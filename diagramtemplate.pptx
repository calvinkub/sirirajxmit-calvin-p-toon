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8288000" cy="10287000"/>
  <p:notesSz cx="6858000" cy="9144000"/>
  <p:embeddedFontLst>
    <p:embeddedFont>
      <p:font typeface="Prompt Bold" charset="1" panose="00000800000000000000"/>
      <p:regular r:id="rId10"/>
    </p:embeddedFont>
    <p:embeddedFont>
      <p:font typeface="Prompt" charset="1" panose="00000500000000000000"/>
      <p:regular r:id="rId11"/>
    </p:embeddedFont>
    <p:embeddedFont>
      <p:font typeface="Arial Bold" charset="1" panose="020B0704020202020204"/>
      <p:regular r:id="rId12"/>
    </p:embeddedFont>
    <p:embeddedFont>
      <p:font typeface="Arial" charset="1" panose="020B0604020202020204"/>
      <p:regular r:id="rId13"/>
    </p:embeddedFont>
    <p:embeddedFont>
      <p:font typeface="Courier New" charset="1" panose="020703090202050204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User-provided decks: Data_and_Results_PhenoInsure_Experiments.pptx.pptx; monotonic_pr_auc_update.pptx</a:t>
            </a:r>
          </a:p>
          <a:p>
            <a:r>
              <a:rPr lang="en-US"/>
              <a:t>[/Sources]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00" Target="../media/image98.png" Type="http://schemas.openxmlformats.org/officeDocument/2006/relationships/image"/><Relationship Id="rId101" Target="../media/image99.svg" Type="http://schemas.openxmlformats.org/officeDocument/2006/relationships/image"/><Relationship Id="rId102" Target="../media/image100.png" Type="http://schemas.openxmlformats.org/officeDocument/2006/relationships/image"/><Relationship Id="rId103" Target="../media/image101.svg" Type="http://schemas.openxmlformats.org/officeDocument/2006/relationships/image"/><Relationship Id="rId104" Target="../media/image102.png" Type="http://schemas.openxmlformats.org/officeDocument/2006/relationships/image"/><Relationship Id="rId105" Target="../media/image103.png" Type="http://schemas.openxmlformats.org/officeDocument/2006/relationships/image"/><Relationship Id="rId106" Target="../media/image104.png" Type="http://schemas.openxmlformats.org/officeDocument/2006/relationships/image"/><Relationship Id="rId107" Target="../media/image105.png" Type="http://schemas.openxmlformats.org/officeDocument/2006/relationships/image"/><Relationship Id="rId108" Target="../media/image106.svg" Type="http://schemas.openxmlformats.org/officeDocument/2006/relationships/image"/><Relationship Id="rId109" Target="../media/image107.png" Type="http://schemas.openxmlformats.org/officeDocument/2006/relationships/image"/><Relationship Id="rId11" Target="../media/image9.png" Type="http://schemas.openxmlformats.org/officeDocument/2006/relationships/image"/><Relationship Id="rId110" Target="../media/image108.svg" Type="http://schemas.openxmlformats.org/officeDocument/2006/relationships/image"/><Relationship Id="rId111" Target="../media/image109.png" Type="http://schemas.openxmlformats.org/officeDocument/2006/relationships/image"/><Relationship Id="rId112" Target="../media/image110.svg" Type="http://schemas.openxmlformats.org/officeDocument/2006/relationships/image"/><Relationship Id="rId113" Target="../media/image111.png" Type="http://schemas.openxmlformats.org/officeDocument/2006/relationships/image"/><Relationship Id="rId114" Target="../media/image112.svg" Type="http://schemas.openxmlformats.org/officeDocument/2006/relationships/image"/><Relationship Id="rId115" Target="../media/image113.png" Type="http://schemas.openxmlformats.org/officeDocument/2006/relationships/image"/><Relationship Id="rId116" Target="../media/image114.svg" Type="http://schemas.openxmlformats.org/officeDocument/2006/relationships/image"/><Relationship Id="rId117" Target="../media/image115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16" Target="../media/image14.pn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18.svg" Type="http://schemas.openxmlformats.org/officeDocument/2006/relationships/image"/><Relationship Id="rId21" Target="../media/image19.png" Type="http://schemas.openxmlformats.org/officeDocument/2006/relationships/image"/><Relationship Id="rId22" Target="../media/image20.png" Type="http://schemas.openxmlformats.org/officeDocument/2006/relationships/image"/><Relationship Id="rId23" Target="../media/image21.svg" Type="http://schemas.openxmlformats.org/officeDocument/2006/relationships/image"/><Relationship Id="rId24" Target="../media/image22.png" Type="http://schemas.openxmlformats.org/officeDocument/2006/relationships/image"/><Relationship Id="rId25" Target="../media/image23.png" Type="http://schemas.openxmlformats.org/officeDocument/2006/relationships/image"/><Relationship Id="rId26" Target="../media/image24.svg" Type="http://schemas.openxmlformats.org/officeDocument/2006/relationships/image"/><Relationship Id="rId27" Target="../media/image25.png" Type="http://schemas.openxmlformats.org/officeDocument/2006/relationships/image"/><Relationship Id="rId28" Target="../media/image26.svg" Type="http://schemas.openxmlformats.org/officeDocument/2006/relationships/image"/><Relationship Id="rId29" Target="../media/image27.png" Type="http://schemas.openxmlformats.org/officeDocument/2006/relationships/image"/><Relationship Id="rId3" Target="../media/image1.png" Type="http://schemas.openxmlformats.org/officeDocument/2006/relationships/image"/><Relationship Id="rId30" Target="../media/image28.svg" Type="http://schemas.openxmlformats.org/officeDocument/2006/relationships/image"/><Relationship Id="rId31" Target="../media/image29.png" Type="http://schemas.openxmlformats.org/officeDocument/2006/relationships/image"/><Relationship Id="rId32" Target="../media/image30.svg" Type="http://schemas.openxmlformats.org/officeDocument/2006/relationships/image"/><Relationship Id="rId33" Target="../media/image31.png" Type="http://schemas.openxmlformats.org/officeDocument/2006/relationships/image"/><Relationship Id="rId34" Target="../media/image32.svg" Type="http://schemas.openxmlformats.org/officeDocument/2006/relationships/image"/><Relationship Id="rId35" Target="../media/image33.png" Type="http://schemas.openxmlformats.org/officeDocument/2006/relationships/image"/><Relationship Id="rId36" Target="../media/image34.svg" Type="http://schemas.openxmlformats.org/officeDocument/2006/relationships/image"/><Relationship Id="rId37" Target="../media/image35.png" Type="http://schemas.openxmlformats.org/officeDocument/2006/relationships/image"/><Relationship Id="rId38" Target="../media/image36.svg" Type="http://schemas.openxmlformats.org/officeDocument/2006/relationships/image"/><Relationship Id="rId39" Target="../media/image37.png" Type="http://schemas.openxmlformats.org/officeDocument/2006/relationships/image"/><Relationship Id="rId4" Target="../media/image2.svg" Type="http://schemas.openxmlformats.org/officeDocument/2006/relationships/image"/><Relationship Id="rId40" Target="../media/image38.svg" Type="http://schemas.openxmlformats.org/officeDocument/2006/relationships/image"/><Relationship Id="rId41" Target="../media/image39.png" Type="http://schemas.openxmlformats.org/officeDocument/2006/relationships/image"/><Relationship Id="rId42" Target="../media/image40.svg" Type="http://schemas.openxmlformats.org/officeDocument/2006/relationships/image"/><Relationship Id="rId43" Target="../media/image41.png" Type="http://schemas.openxmlformats.org/officeDocument/2006/relationships/image"/><Relationship Id="rId44" Target="../media/image42.svg" Type="http://schemas.openxmlformats.org/officeDocument/2006/relationships/image"/><Relationship Id="rId45" Target="../media/image43.png" Type="http://schemas.openxmlformats.org/officeDocument/2006/relationships/image"/><Relationship Id="rId46" Target="../media/image44.svg" Type="http://schemas.openxmlformats.org/officeDocument/2006/relationships/image"/><Relationship Id="rId47" Target="../media/image45.png" Type="http://schemas.openxmlformats.org/officeDocument/2006/relationships/image"/><Relationship Id="rId48" Target="../media/image46.svg" Type="http://schemas.openxmlformats.org/officeDocument/2006/relationships/image"/><Relationship Id="rId49" Target="../media/image47.png" Type="http://schemas.openxmlformats.org/officeDocument/2006/relationships/image"/><Relationship Id="rId5" Target="../media/image3.png" Type="http://schemas.openxmlformats.org/officeDocument/2006/relationships/image"/><Relationship Id="rId50" Target="../media/image48.svg" Type="http://schemas.openxmlformats.org/officeDocument/2006/relationships/image"/><Relationship Id="rId51" Target="../media/image49.png" Type="http://schemas.openxmlformats.org/officeDocument/2006/relationships/image"/><Relationship Id="rId52" Target="../media/image50.svg" Type="http://schemas.openxmlformats.org/officeDocument/2006/relationships/image"/><Relationship Id="rId53" Target="../media/image51.png" Type="http://schemas.openxmlformats.org/officeDocument/2006/relationships/image"/><Relationship Id="rId54" Target="../media/image52.svg" Type="http://schemas.openxmlformats.org/officeDocument/2006/relationships/image"/><Relationship Id="rId55" Target="../media/image53.png" Type="http://schemas.openxmlformats.org/officeDocument/2006/relationships/image"/><Relationship Id="rId56" Target="../media/image54.svg" Type="http://schemas.openxmlformats.org/officeDocument/2006/relationships/image"/><Relationship Id="rId57" Target="../media/image55.png" Type="http://schemas.openxmlformats.org/officeDocument/2006/relationships/image"/><Relationship Id="rId58" Target="../media/image56.svg" Type="http://schemas.openxmlformats.org/officeDocument/2006/relationships/image"/><Relationship Id="rId59" Target="../media/image57.png" Type="http://schemas.openxmlformats.org/officeDocument/2006/relationships/image"/><Relationship Id="rId6" Target="../media/image4.svg" Type="http://schemas.openxmlformats.org/officeDocument/2006/relationships/image"/><Relationship Id="rId60" Target="../media/image58.svg" Type="http://schemas.openxmlformats.org/officeDocument/2006/relationships/image"/><Relationship Id="rId61" Target="../media/image59.png" Type="http://schemas.openxmlformats.org/officeDocument/2006/relationships/image"/><Relationship Id="rId62" Target="../media/image60.svg" Type="http://schemas.openxmlformats.org/officeDocument/2006/relationships/image"/><Relationship Id="rId63" Target="../media/image61.png" Type="http://schemas.openxmlformats.org/officeDocument/2006/relationships/image"/><Relationship Id="rId64" Target="../media/image62.svg" Type="http://schemas.openxmlformats.org/officeDocument/2006/relationships/image"/><Relationship Id="rId65" Target="../media/image63.png" Type="http://schemas.openxmlformats.org/officeDocument/2006/relationships/image"/><Relationship Id="rId66" Target="../media/image64.svg" Type="http://schemas.openxmlformats.org/officeDocument/2006/relationships/image"/><Relationship Id="rId67" Target="../media/image65.png" Type="http://schemas.openxmlformats.org/officeDocument/2006/relationships/image"/><Relationship Id="rId68" Target="../media/image66.svg" Type="http://schemas.openxmlformats.org/officeDocument/2006/relationships/image"/><Relationship Id="rId69" Target="../media/image67.png" Type="http://schemas.openxmlformats.org/officeDocument/2006/relationships/image"/><Relationship Id="rId7" Target="../media/image5.png" Type="http://schemas.openxmlformats.org/officeDocument/2006/relationships/image"/><Relationship Id="rId70" Target="../media/image68.svg" Type="http://schemas.openxmlformats.org/officeDocument/2006/relationships/image"/><Relationship Id="rId71" Target="../media/image69.png" Type="http://schemas.openxmlformats.org/officeDocument/2006/relationships/image"/><Relationship Id="rId72" Target="../media/image70.svg" Type="http://schemas.openxmlformats.org/officeDocument/2006/relationships/image"/><Relationship Id="rId73" Target="../media/image71.png" Type="http://schemas.openxmlformats.org/officeDocument/2006/relationships/image"/><Relationship Id="rId74" Target="../media/image72.svg" Type="http://schemas.openxmlformats.org/officeDocument/2006/relationships/image"/><Relationship Id="rId75" Target="../media/image73.png" Type="http://schemas.openxmlformats.org/officeDocument/2006/relationships/image"/><Relationship Id="rId76" Target="../media/image74.png" Type="http://schemas.openxmlformats.org/officeDocument/2006/relationships/image"/><Relationship Id="rId77" Target="../media/image75.svg" Type="http://schemas.openxmlformats.org/officeDocument/2006/relationships/image"/><Relationship Id="rId78" Target="../media/image76.png" Type="http://schemas.openxmlformats.org/officeDocument/2006/relationships/image"/><Relationship Id="rId79" Target="../media/image77.svg" Type="http://schemas.openxmlformats.org/officeDocument/2006/relationships/image"/><Relationship Id="rId8" Target="../media/image6.png" Type="http://schemas.openxmlformats.org/officeDocument/2006/relationships/image"/><Relationship Id="rId80" Target="../media/image78.png" Type="http://schemas.openxmlformats.org/officeDocument/2006/relationships/image"/><Relationship Id="rId81" Target="../media/image79.svg" Type="http://schemas.openxmlformats.org/officeDocument/2006/relationships/image"/><Relationship Id="rId82" Target="../media/image80.png" Type="http://schemas.openxmlformats.org/officeDocument/2006/relationships/image"/><Relationship Id="rId83" Target="../media/image81.svg" Type="http://schemas.openxmlformats.org/officeDocument/2006/relationships/image"/><Relationship Id="rId84" Target="../media/image82.jpeg" Type="http://schemas.openxmlformats.org/officeDocument/2006/relationships/image"/><Relationship Id="rId85" Target="../media/image83.png" Type="http://schemas.openxmlformats.org/officeDocument/2006/relationships/image"/><Relationship Id="rId86" Target="../media/image84.svg" Type="http://schemas.openxmlformats.org/officeDocument/2006/relationships/image"/><Relationship Id="rId87" Target="../media/image85.png" Type="http://schemas.openxmlformats.org/officeDocument/2006/relationships/image"/><Relationship Id="rId88" Target="../media/image86.svg" Type="http://schemas.openxmlformats.org/officeDocument/2006/relationships/image"/><Relationship Id="rId89" Target="../media/image87.png" Type="http://schemas.openxmlformats.org/officeDocument/2006/relationships/image"/><Relationship Id="rId9" Target="../media/image7.svg" Type="http://schemas.openxmlformats.org/officeDocument/2006/relationships/image"/><Relationship Id="rId90" Target="../media/image88.svg" Type="http://schemas.openxmlformats.org/officeDocument/2006/relationships/image"/><Relationship Id="rId91" Target="../media/image89.png" Type="http://schemas.openxmlformats.org/officeDocument/2006/relationships/image"/><Relationship Id="rId92" Target="../media/image90.svg" Type="http://schemas.openxmlformats.org/officeDocument/2006/relationships/image"/><Relationship Id="rId93" Target="../media/image91.png" Type="http://schemas.openxmlformats.org/officeDocument/2006/relationships/image"/><Relationship Id="rId94" Target="../media/image92.svg" Type="http://schemas.openxmlformats.org/officeDocument/2006/relationships/image"/><Relationship Id="rId95" Target="../media/image93.png" Type="http://schemas.openxmlformats.org/officeDocument/2006/relationships/image"/><Relationship Id="rId96" Target="../media/image94.svg" Type="http://schemas.openxmlformats.org/officeDocument/2006/relationships/image"/><Relationship Id="rId97" Target="../media/image95.png" Type="http://schemas.openxmlformats.org/officeDocument/2006/relationships/image"/><Relationship Id="rId98" Target="../media/image96.svg" Type="http://schemas.openxmlformats.org/officeDocument/2006/relationships/image"/><Relationship Id="rId99" Target="../media/image9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5C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78561" y="329803"/>
            <a:ext cx="4234196" cy="1282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8"/>
              </a:lnSpc>
            </a:pPr>
            <a:r>
              <a:rPr lang="en-US" sz="465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TECHNOLOGY</a:t>
            </a:r>
            <a:r>
              <a:rPr lang="en-US" sz="465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56727" y="1447857"/>
            <a:ext cx="17277874" cy="8145742"/>
          </a:xfrm>
          <a:custGeom>
            <a:avLst/>
            <a:gdLst/>
            <a:ahLst/>
            <a:cxnLst/>
            <a:rect r="r" b="b" t="t" l="l"/>
            <a:pathLst>
              <a:path h="8145742" w="17277874">
                <a:moveTo>
                  <a:pt x="0" y="0"/>
                </a:moveTo>
                <a:lnTo>
                  <a:pt x="17277873" y="0"/>
                </a:lnTo>
                <a:lnTo>
                  <a:pt x="17277873" y="8145742"/>
                </a:lnTo>
                <a:lnTo>
                  <a:pt x="0" y="81457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5" r="0" b="-45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68518" y="1628823"/>
            <a:ext cx="2539336" cy="403441"/>
            <a:chOff x="0" y="0"/>
            <a:chExt cx="3385782" cy="5379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5693" cy="537972"/>
            </a:xfrm>
            <a:custGeom>
              <a:avLst/>
              <a:gdLst/>
              <a:ahLst/>
              <a:cxnLst/>
              <a:rect r="r" b="b" t="t" l="l"/>
              <a:pathLst>
                <a:path h="537972" w="3385693">
                  <a:moveTo>
                    <a:pt x="94869" y="0"/>
                  </a:moveTo>
                  <a:lnTo>
                    <a:pt x="3290824" y="0"/>
                  </a:lnTo>
                  <a:cubicBezTo>
                    <a:pt x="3343148" y="0"/>
                    <a:pt x="3385693" y="42545"/>
                    <a:pt x="3385693" y="94869"/>
                  </a:cubicBezTo>
                  <a:lnTo>
                    <a:pt x="3385693" y="537972"/>
                  </a:lnTo>
                  <a:lnTo>
                    <a:pt x="0" y="537972"/>
                  </a:lnTo>
                  <a:lnTo>
                    <a:pt x="0" y="94869"/>
                  </a:lnTo>
                  <a:cubicBezTo>
                    <a:pt x="0" y="42545"/>
                    <a:pt x="42545" y="0"/>
                    <a:pt x="94869" y="0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08296" y="1628823"/>
            <a:ext cx="2733399" cy="403441"/>
            <a:chOff x="0" y="0"/>
            <a:chExt cx="3644532" cy="5379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4519" cy="537972"/>
            </a:xfrm>
            <a:custGeom>
              <a:avLst/>
              <a:gdLst/>
              <a:ahLst/>
              <a:cxnLst/>
              <a:rect r="r" b="b" t="t" l="l"/>
              <a:pathLst>
                <a:path h="537972" w="3644519">
                  <a:moveTo>
                    <a:pt x="81026" y="0"/>
                  </a:moveTo>
                  <a:lnTo>
                    <a:pt x="3563493" y="0"/>
                  </a:lnTo>
                  <a:cubicBezTo>
                    <a:pt x="3608197" y="0"/>
                    <a:pt x="3644519" y="42545"/>
                    <a:pt x="3644519" y="94869"/>
                  </a:cubicBezTo>
                  <a:lnTo>
                    <a:pt x="3644519" y="537972"/>
                  </a:lnTo>
                  <a:lnTo>
                    <a:pt x="0" y="537972"/>
                  </a:lnTo>
                  <a:lnTo>
                    <a:pt x="0" y="94869"/>
                  </a:lnTo>
                  <a:cubicBezTo>
                    <a:pt x="0" y="42545"/>
                    <a:pt x="36322" y="0"/>
                    <a:pt x="81026" y="0"/>
                  </a:cubicBezTo>
                  <a:close/>
                </a:path>
              </a:pathLst>
            </a:custGeom>
            <a:solidFill>
              <a:srgbClr val="2455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70749" y="1628823"/>
            <a:ext cx="5755319" cy="391258"/>
            <a:chOff x="0" y="0"/>
            <a:chExt cx="7673759" cy="521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73721" cy="521716"/>
            </a:xfrm>
            <a:custGeom>
              <a:avLst/>
              <a:gdLst/>
              <a:ahLst/>
              <a:cxnLst/>
              <a:rect r="r" b="b" t="t" l="l"/>
              <a:pathLst>
                <a:path h="521716" w="7673721">
                  <a:moveTo>
                    <a:pt x="76708" y="0"/>
                  </a:moveTo>
                  <a:lnTo>
                    <a:pt x="7597013" y="0"/>
                  </a:lnTo>
                  <a:cubicBezTo>
                    <a:pt x="7639304" y="0"/>
                    <a:pt x="7673721" y="41275"/>
                    <a:pt x="7673721" y="92075"/>
                  </a:cubicBezTo>
                  <a:lnTo>
                    <a:pt x="7673721" y="521716"/>
                  </a:lnTo>
                  <a:lnTo>
                    <a:pt x="0" y="521716"/>
                  </a:lnTo>
                  <a:lnTo>
                    <a:pt x="0" y="92075"/>
                  </a:lnTo>
                  <a:cubicBezTo>
                    <a:pt x="0" y="41275"/>
                    <a:pt x="34417" y="0"/>
                    <a:pt x="76708" y="0"/>
                  </a:cubicBezTo>
                  <a:close/>
                </a:path>
              </a:pathLst>
            </a:custGeom>
            <a:solidFill>
              <a:srgbClr val="1B8C8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267800" y="1628823"/>
            <a:ext cx="2529935" cy="391258"/>
            <a:chOff x="0" y="0"/>
            <a:chExt cx="3373247" cy="5216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73120" cy="521716"/>
            </a:xfrm>
            <a:custGeom>
              <a:avLst/>
              <a:gdLst/>
              <a:ahLst/>
              <a:cxnLst/>
              <a:rect r="r" b="b" t="t" l="l"/>
              <a:pathLst>
                <a:path h="521716" w="3373120">
                  <a:moveTo>
                    <a:pt x="74930" y="0"/>
                  </a:moveTo>
                  <a:lnTo>
                    <a:pt x="3298190" y="0"/>
                  </a:lnTo>
                  <a:cubicBezTo>
                    <a:pt x="3339592" y="0"/>
                    <a:pt x="3373120" y="41275"/>
                    <a:pt x="3373120" y="92075"/>
                  </a:cubicBezTo>
                  <a:lnTo>
                    <a:pt x="3373120" y="521716"/>
                  </a:lnTo>
                  <a:lnTo>
                    <a:pt x="0" y="521716"/>
                  </a:lnTo>
                  <a:lnTo>
                    <a:pt x="0" y="92075"/>
                  </a:lnTo>
                  <a:cubicBezTo>
                    <a:pt x="0" y="41275"/>
                    <a:pt x="33655" y="0"/>
                    <a:pt x="74930" y="0"/>
                  </a:cubicBezTo>
                  <a:close/>
                </a:path>
              </a:pathLst>
            </a:custGeom>
            <a:solidFill>
              <a:srgbClr val="D6336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2931" y="1628823"/>
            <a:ext cx="2382679" cy="360788"/>
            <a:chOff x="0" y="0"/>
            <a:chExt cx="3176905" cy="4810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6905" cy="481076"/>
            </a:xfrm>
            <a:custGeom>
              <a:avLst/>
              <a:gdLst/>
              <a:ahLst/>
              <a:cxnLst/>
              <a:rect r="r" b="b" t="t" l="l"/>
              <a:pathLst>
                <a:path h="481076" w="3176905">
                  <a:moveTo>
                    <a:pt x="85852" y="0"/>
                  </a:moveTo>
                  <a:lnTo>
                    <a:pt x="3091053" y="0"/>
                  </a:lnTo>
                  <a:cubicBezTo>
                    <a:pt x="3138424" y="0"/>
                    <a:pt x="3176905" y="38100"/>
                    <a:pt x="3176905" y="84836"/>
                  </a:cubicBezTo>
                  <a:lnTo>
                    <a:pt x="3176905" y="481076"/>
                  </a:lnTo>
                  <a:lnTo>
                    <a:pt x="0" y="481076"/>
                  </a:lnTo>
                  <a:lnTo>
                    <a:pt x="0" y="84836"/>
                  </a:lnTo>
                  <a:cubicBezTo>
                    <a:pt x="0" y="38100"/>
                    <a:pt x="38481" y="0"/>
                    <a:pt x="85852" y="0"/>
                  </a:cubicBezTo>
                  <a:close/>
                </a:path>
              </a:pathLst>
            </a:custGeom>
            <a:solidFill>
              <a:srgbClr val="6D3FB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55002" y="2282104"/>
            <a:ext cx="2576446" cy="771382"/>
          </a:xfrm>
          <a:custGeom>
            <a:avLst/>
            <a:gdLst/>
            <a:ahLst/>
            <a:cxnLst/>
            <a:rect r="r" b="b" t="t" l="l"/>
            <a:pathLst>
              <a:path h="771382" w="2576446">
                <a:moveTo>
                  <a:pt x="0" y="0"/>
                </a:moveTo>
                <a:lnTo>
                  <a:pt x="2576446" y="0"/>
                </a:lnTo>
                <a:lnTo>
                  <a:pt x="2576446" y="771382"/>
                </a:lnTo>
                <a:lnTo>
                  <a:pt x="0" y="7713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1699" y="2420960"/>
            <a:ext cx="493509" cy="493509"/>
            <a:chOff x="0" y="0"/>
            <a:chExt cx="658012" cy="6580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7987" cy="657987"/>
            </a:xfrm>
            <a:custGeom>
              <a:avLst/>
              <a:gdLst/>
              <a:ahLst/>
              <a:cxnLst/>
              <a:rect r="r" b="b" t="t" l="l"/>
              <a:pathLst>
                <a:path h="657987" w="657987">
                  <a:moveTo>
                    <a:pt x="0" y="164465"/>
                  </a:moveTo>
                  <a:cubicBezTo>
                    <a:pt x="0" y="73660"/>
                    <a:pt x="73660" y="0"/>
                    <a:pt x="164465" y="0"/>
                  </a:cubicBezTo>
                  <a:lnTo>
                    <a:pt x="493522" y="0"/>
                  </a:lnTo>
                  <a:cubicBezTo>
                    <a:pt x="584454" y="0"/>
                    <a:pt x="657987" y="73660"/>
                    <a:pt x="657987" y="164465"/>
                  </a:cubicBezTo>
                  <a:lnTo>
                    <a:pt x="657987" y="493522"/>
                  </a:lnTo>
                  <a:cubicBezTo>
                    <a:pt x="657987" y="584454"/>
                    <a:pt x="584327" y="657987"/>
                    <a:pt x="493522" y="657987"/>
                  </a:cubicBezTo>
                  <a:lnTo>
                    <a:pt x="164465" y="657987"/>
                  </a:lnTo>
                  <a:cubicBezTo>
                    <a:pt x="73660" y="657987"/>
                    <a:pt x="0" y="584454"/>
                    <a:pt x="0" y="493522"/>
                  </a:cubicBezTo>
                  <a:close/>
                </a:path>
              </a:pathLst>
            </a:custGeom>
            <a:blipFill>
              <a:blip r:embed="rId7"/>
              <a:stretch>
                <a:fillRect l="0" t="-24817" r="-3" b="-24823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137371" y="2536631"/>
            <a:ext cx="262176" cy="262176"/>
          </a:xfrm>
          <a:custGeom>
            <a:avLst/>
            <a:gdLst/>
            <a:ahLst/>
            <a:cxnLst/>
            <a:rect r="r" b="b" t="t" l="l"/>
            <a:pathLst>
              <a:path h="262176" w="262176">
                <a:moveTo>
                  <a:pt x="0" y="0"/>
                </a:moveTo>
                <a:lnTo>
                  <a:pt x="262175" y="0"/>
                </a:lnTo>
                <a:lnTo>
                  <a:pt x="262175" y="262176"/>
                </a:lnTo>
                <a:lnTo>
                  <a:pt x="0" y="262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95145" y="2392413"/>
            <a:ext cx="1727340" cy="52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1457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รายงานผลแล็บ ทางคลินิก (PDF/HL7)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55002" y="3175425"/>
            <a:ext cx="2576446" cy="771382"/>
          </a:xfrm>
          <a:custGeom>
            <a:avLst/>
            <a:gdLst/>
            <a:ahLst/>
            <a:cxnLst/>
            <a:rect r="r" b="b" t="t" l="l"/>
            <a:pathLst>
              <a:path h="771382" w="2576446">
                <a:moveTo>
                  <a:pt x="0" y="0"/>
                </a:moveTo>
                <a:lnTo>
                  <a:pt x="2576446" y="0"/>
                </a:lnTo>
                <a:lnTo>
                  <a:pt x="2576446" y="771383"/>
                </a:lnTo>
                <a:lnTo>
                  <a:pt x="0" y="7713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21699" y="3314290"/>
            <a:ext cx="493509" cy="493509"/>
            <a:chOff x="0" y="0"/>
            <a:chExt cx="658012" cy="6580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7987" cy="657987"/>
            </a:xfrm>
            <a:custGeom>
              <a:avLst/>
              <a:gdLst/>
              <a:ahLst/>
              <a:cxnLst/>
              <a:rect r="r" b="b" t="t" l="l"/>
              <a:pathLst>
                <a:path h="657987" w="657987">
                  <a:moveTo>
                    <a:pt x="0" y="164465"/>
                  </a:moveTo>
                  <a:cubicBezTo>
                    <a:pt x="0" y="73660"/>
                    <a:pt x="73660" y="0"/>
                    <a:pt x="164465" y="0"/>
                  </a:cubicBezTo>
                  <a:lnTo>
                    <a:pt x="493522" y="0"/>
                  </a:lnTo>
                  <a:cubicBezTo>
                    <a:pt x="584454" y="0"/>
                    <a:pt x="657987" y="73660"/>
                    <a:pt x="657987" y="164465"/>
                  </a:cubicBezTo>
                  <a:lnTo>
                    <a:pt x="657987" y="493522"/>
                  </a:lnTo>
                  <a:cubicBezTo>
                    <a:pt x="657987" y="584454"/>
                    <a:pt x="584327" y="657987"/>
                    <a:pt x="493522" y="657987"/>
                  </a:cubicBezTo>
                  <a:lnTo>
                    <a:pt x="164465" y="657987"/>
                  </a:lnTo>
                  <a:cubicBezTo>
                    <a:pt x="73660" y="657987"/>
                    <a:pt x="0" y="584454"/>
                    <a:pt x="0" y="493522"/>
                  </a:cubicBezTo>
                  <a:close/>
                </a:path>
              </a:pathLst>
            </a:custGeom>
            <a:blipFill>
              <a:blip r:embed="rId10"/>
              <a:stretch>
                <a:fillRect l="0" t="-6060" r="-3" b="-6064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855002" y="4060146"/>
            <a:ext cx="2576446" cy="783917"/>
          </a:xfrm>
          <a:custGeom>
            <a:avLst/>
            <a:gdLst/>
            <a:ahLst/>
            <a:cxnLst/>
            <a:rect r="r" b="b" t="t" l="l"/>
            <a:pathLst>
              <a:path h="783917" w="2576446">
                <a:moveTo>
                  <a:pt x="0" y="0"/>
                </a:moveTo>
                <a:lnTo>
                  <a:pt x="2576446" y="0"/>
                </a:lnTo>
                <a:lnTo>
                  <a:pt x="2576446" y="783917"/>
                </a:lnTo>
                <a:lnTo>
                  <a:pt x="0" y="7839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21699" y="4199020"/>
            <a:ext cx="493509" cy="493509"/>
            <a:chOff x="0" y="0"/>
            <a:chExt cx="658012" cy="6580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7987" cy="657987"/>
            </a:xfrm>
            <a:custGeom>
              <a:avLst/>
              <a:gdLst/>
              <a:ahLst/>
              <a:cxnLst/>
              <a:rect r="r" b="b" t="t" l="l"/>
              <a:pathLst>
                <a:path h="657987" w="657987">
                  <a:moveTo>
                    <a:pt x="0" y="164465"/>
                  </a:moveTo>
                  <a:cubicBezTo>
                    <a:pt x="0" y="73660"/>
                    <a:pt x="73660" y="0"/>
                    <a:pt x="164465" y="0"/>
                  </a:cubicBezTo>
                  <a:lnTo>
                    <a:pt x="493522" y="0"/>
                  </a:lnTo>
                  <a:cubicBezTo>
                    <a:pt x="584454" y="0"/>
                    <a:pt x="657987" y="73660"/>
                    <a:pt x="657987" y="164465"/>
                  </a:cubicBezTo>
                  <a:lnTo>
                    <a:pt x="657987" y="493522"/>
                  </a:lnTo>
                  <a:cubicBezTo>
                    <a:pt x="657987" y="584454"/>
                    <a:pt x="584327" y="657987"/>
                    <a:pt x="493522" y="657987"/>
                  </a:cubicBezTo>
                  <a:lnTo>
                    <a:pt x="164465" y="657987"/>
                  </a:lnTo>
                  <a:cubicBezTo>
                    <a:pt x="73660" y="657987"/>
                    <a:pt x="0" y="584454"/>
                    <a:pt x="0" y="493522"/>
                  </a:cubicBezTo>
                  <a:close/>
                </a:path>
              </a:pathLst>
            </a:custGeom>
            <a:blipFill>
              <a:blip r:embed="rId13"/>
              <a:stretch>
                <a:fillRect l="-13271" t="0" r="-13277" b="-3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137371" y="4314692"/>
            <a:ext cx="262176" cy="262176"/>
          </a:xfrm>
          <a:custGeom>
            <a:avLst/>
            <a:gdLst/>
            <a:ahLst/>
            <a:cxnLst/>
            <a:rect r="r" b="b" t="t" l="l"/>
            <a:pathLst>
              <a:path h="262176" w="262176">
                <a:moveTo>
                  <a:pt x="0" y="0"/>
                </a:moveTo>
                <a:lnTo>
                  <a:pt x="262175" y="0"/>
                </a:lnTo>
                <a:lnTo>
                  <a:pt x="262175" y="262175"/>
                </a:lnTo>
                <a:lnTo>
                  <a:pt x="0" y="2621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695145" y="4170455"/>
            <a:ext cx="1475461" cy="52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1457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ประวัติการรักษาผู้ป่วย - เวชระเบียน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71518" y="4914767"/>
            <a:ext cx="2576446" cy="771382"/>
          </a:xfrm>
          <a:custGeom>
            <a:avLst/>
            <a:gdLst/>
            <a:ahLst/>
            <a:cxnLst/>
            <a:rect r="r" b="b" t="t" l="l"/>
            <a:pathLst>
              <a:path h="771382" w="2576446">
                <a:moveTo>
                  <a:pt x="0" y="0"/>
                </a:moveTo>
                <a:lnTo>
                  <a:pt x="2576446" y="0"/>
                </a:lnTo>
                <a:lnTo>
                  <a:pt x="2576446" y="771382"/>
                </a:lnTo>
                <a:lnTo>
                  <a:pt x="0" y="7713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038215" y="5053622"/>
            <a:ext cx="493509" cy="493509"/>
            <a:chOff x="0" y="0"/>
            <a:chExt cx="658012" cy="6580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7987" cy="657987"/>
            </a:xfrm>
            <a:custGeom>
              <a:avLst/>
              <a:gdLst/>
              <a:ahLst/>
              <a:cxnLst/>
              <a:rect r="r" b="b" t="t" l="l"/>
              <a:pathLst>
                <a:path h="657987" w="657987">
                  <a:moveTo>
                    <a:pt x="0" y="164465"/>
                  </a:moveTo>
                  <a:cubicBezTo>
                    <a:pt x="0" y="73660"/>
                    <a:pt x="73660" y="0"/>
                    <a:pt x="164465" y="0"/>
                  </a:cubicBezTo>
                  <a:lnTo>
                    <a:pt x="493522" y="0"/>
                  </a:lnTo>
                  <a:cubicBezTo>
                    <a:pt x="584454" y="0"/>
                    <a:pt x="657987" y="73660"/>
                    <a:pt x="657987" y="164465"/>
                  </a:cubicBezTo>
                  <a:lnTo>
                    <a:pt x="657987" y="493522"/>
                  </a:lnTo>
                  <a:cubicBezTo>
                    <a:pt x="657987" y="584454"/>
                    <a:pt x="584327" y="657987"/>
                    <a:pt x="493522" y="657987"/>
                  </a:cubicBezTo>
                  <a:lnTo>
                    <a:pt x="164465" y="657987"/>
                  </a:lnTo>
                  <a:cubicBezTo>
                    <a:pt x="73660" y="657987"/>
                    <a:pt x="0" y="584454"/>
                    <a:pt x="0" y="493522"/>
                  </a:cubicBezTo>
                  <a:close/>
                </a:path>
              </a:pathLst>
            </a:custGeom>
            <a:blipFill>
              <a:blip r:embed="rId16"/>
              <a:stretch>
                <a:fillRect l="0" t="0" r="-3" b="-3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153887" y="5169284"/>
            <a:ext cx="262176" cy="262176"/>
          </a:xfrm>
          <a:custGeom>
            <a:avLst/>
            <a:gdLst/>
            <a:ahLst/>
            <a:cxnLst/>
            <a:rect r="r" b="b" t="t" l="l"/>
            <a:pathLst>
              <a:path h="262176" w="262176">
                <a:moveTo>
                  <a:pt x="0" y="0"/>
                </a:moveTo>
                <a:lnTo>
                  <a:pt x="262176" y="0"/>
                </a:lnTo>
                <a:lnTo>
                  <a:pt x="262176" y="262176"/>
                </a:lnTo>
                <a:lnTo>
                  <a:pt x="0" y="2621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711662" y="5025066"/>
            <a:ext cx="1286351" cy="52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1457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ฐานข้อมูลประวัติ การเคลมประกัน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855002" y="5803668"/>
            <a:ext cx="2576446" cy="1020918"/>
          </a:xfrm>
          <a:custGeom>
            <a:avLst/>
            <a:gdLst/>
            <a:ahLst/>
            <a:cxnLst/>
            <a:rect r="r" b="b" t="t" l="l"/>
            <a:pathLst>
              <a:path h="1020918" w="2576446">
                <a:moveTo>
                  <a:pt x="0" y="0"/>
                </a:moveTo>
                <a:lnTo>
                  <a:pt x="2576446" y="0"/>
                </a:lnTo>
                <a:lnTo>
                  <a:pt x="2576446" y="1020918"/>
                </a:lnTo>
                <a:lnTo>
                  <a:pt x="0" y="102091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021699" y="6067368"/>
            <a:ext cx="493509" cy="493509"/>
            <a:chOff x="0" y="0"/>
            <a:chExt cx="658012" cy="6580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7987" cy="657987"/>
            </a:xfrm>
            <a:custGeom>
              <a:avLst/>
              <a:gdLst/>
              <a:ahLst/>
              <a:cxnLst/>
              <a:rect r="r" b="b" t="t" l="l"/>
              <a:pathLst>
                <a:path h="657987" w="657987">
                  <a:moveTo>
                    <a:pt x="0" y="164465"/>
                  </a:moveTo>
                  <a:cubicBezTo>
                    <a:pt x="0" y="73660"/>
                    <a:pt x="73660" y="0"/>
                    <a:pt x="164465" y="0"/>
                  </a:cubicBezTo>
                  <a:lnTo>
                    <a:pt x="493522" y="0"/>
                  </a:lnTo>
                  <a:cubicBezTo>
                    <a:pt x="584454" y="0"/>
                    <a:pt x="657987" y="73660"/>
                    <a:pt x="657987" y="164465"/>
                  </a:cubicBezTo>
                  <a:lnTo>
                    <a:pt x="657987" y="493522"/>
                  </a:lnTo>
                  <a:cubicBezTo>
                    <a:pt x="657987" y="584454"/>
                    <a:pt x="584327" y="657987"/>
                    <a:pt x="493522" y="657987"/>
                  </a:cubicBezTo>
                  <a:lnTo>
                    <a:pt x="164465" y="657987"/>
                  </a:lnTo>
                  <a:cubicBezTo>
                    <a:pt x="73660" y="657987"/>
                    <a:pt x="0" y="584454"/>
                    <a:pt x="0" y="493522"/>
                  </a:cubicBezTo>
                  <a:close/>
                </a:path>
              </a:pathLst>
            </a:custGeom>
            <a:blipFill>
              <a:blip r:embed="rId21"/>
              <a:stretch>
                <a:fillRect l="0" t="-1667" r="-3" b="-1669"/>
              </a:stretch>
            </a:blip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1137371" y="6183039"/>
            <a:ext cx="262176" cy="262176"/>
          </a:xfrm>
          <a:custGeom>
            <a:avLst/>
            <a:gdLst/>
            <a:ahLst/>
            <a:cxnLst/>
            <a:rect r="r" b="b" t="t" l="l"/>
            <a:pathLst>
              <a:path h="262176" w="262176">
                <a:moveTo>
                  <a:pt x="0" y="0"/>
                </a:moveTo>
                <a:lnTo>
                  <a:pt x="262175" y="0"/>
                </a:lnTo>
                <a:lnTo>
                  <a:pt x="262175" y="262176"/>
                </a:lnTo>
                <a:lnTo>
                  <a:pt x="0" y="26217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695145" y="5913977"/>
            <a:ext cx="1704070" cy="77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1457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ฐานข้อมูลแนวทาง การแพทย์สาธารณะ (WHO/ADA)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855002" y="7019992"/>
            <a:ext cx="2576446" cy="771382"/>
          </a:xfrm>
          <a:custGeom>
            <a:avLst/>
            <a:gdLst/>
            <a:ahLst/>
            <a:cxnLst/>
            <a:rect r="r" b="b" t="t" l="l"/>
            <a:pathLst>
              <a:path h="771382" w="2576446">
                <a:moveTo>
                  <a:pt x="0" y="0"/>
                </a:moveTo>
                <a:lnTo>
                  <a:pt x="2576446" y="0"/>
                </a:lnTo>
                <a:lnTo>
                  <a:pt x="2576446" y="771382"/>
                </a:lnTo>
                <a:lnTo>
                  <a:pt x="0" y="7713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021699" y="7158866"/>
            <a:ext cx="493509" cy="493509"/>
            <a:chOff x="0" y="0"/>
            <a:chExt cx="658012" cy="6580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7987" cy="657987"/>
            </a:xfrm>
            <a:custGeom>
              <a:avLst/>
              <a:gdLst/>
              <a:ahLst/>
              <a:cxnLst/>
              <a:rect r="r" b="b" t="t" l="l"/>
              <a:pathLst>
                <a:path h="657987" w="657987">
                  <a:moveTo>
                    <a:pt x="0" y="164465"/>
                  </a:moveTo>
                  <a:cubicBezTo>
                    <a:pt x="0" y="73660"/>
                    <a:pt x="73660" y="0"/>
                    <a:pt x="164465" y="0"/>
                  </a:cubicBezTo>
                  <a:lnTo>
                    <a:pt x="493522" y="0"/>
                  </a:lnTo>
                  <a:cubicBezTo>
                    <a:pt x="584454" y="0"/>
                    <a:pt x="657987" y="73660"/>
                    <a:pt x="657987" y="164465"/>
                  </a:cubicBezTo>
                  <a:lnTo>
                    <a:pt x="657987" y="493522"/>
                  </a:lnTo>
                  <a:cubicBezTo>
                    <a:pt x="657987" y="584454"/>
                    <a:pt x="584327" y="657987"/>
                    <a:pt x="493522" y="657987"/>
                  </a:cubicBezTo>
                  <a:lnTo>
                    <a:pt x="164465" y="657987"/>
                  </a:lnTo>
                  <a:cubicBezTo>
                    <a:pt x="73660" y="657987"/>
                    <a:pt x="0" y="584454"/>
                    <a:pt x="0" y="493522"/>
                  </a:cubicBezTo>
                  <a:close/>
                </a:path>
              </a:pathLst>
            </a:custGeom>
            <a:blipFill>
              <a:blip r:embed="rId24"/>
              <a:stretch>
                <a:fillRect l="0" t="0" r="-3" b="-3"/>
              </a:stretch>
            </a:blip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1137371" y="7274528"/>
            <a:ext cx="262176" cy="262176"/>
          </a:xfrm>
          <a:custGeom>
            <a:avLst/>
            <a:gdLst/>
            <a:ahLst/>
            <a:cxnLst/>
            <a:rect r="r" b="b" t="t" l="l"/>
            <a:pathLst>
              <a:path h="262176" w="262176">
                <a:moveTo>
                  <a:pt x="0" y="0"/>
                </a:moveTo>
                <a:lnTo>
                  <a:pt x="262175" y="0"/>
                </a:lnTo>
                <a:lnTo>
                  <a:pt x="262175" y="262176"/>
                </a:lnTo>
                <a:lnTo>
                  <a:pt x="0" y="26217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695145" y="7130291"/>
            <a:ext cx="1394431" cy="52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1457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ข้อมูลกิจกรรมจาก สมาร์ทวอทช์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4826803" y="7552096"/>
            <a:ext cx="2950274" cy="468735"/>
            <a:chOff x="0" y="0"/>
            <a:chExt cx="3933698" cy="6249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933698" cy="624967"/>
            </a:xfrm>
            <a:custGeom>
              <a:avLst/>
              <a:gdLst/>
              <a:ahLst/>
              <a:cxnLst/>
              <a:rect r="r" b="b" t="t" l="l"/>
              <a:pathLst>
                <a:path h="624967" w="3933698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3823462" y="0"/>
                  </a:lnTo>
                  <a:cubicBezTo>
                    <a:pt x="3884295" y="0"/>
                    <a:pt x="3933698" y="49403"/>
                    <a:pt x="3933698" y="110236"/>
                  </a:cubicBezTo>
                  <a:lnTo>
                    <a:pt x="3933698" y="514731"/>
                  </a:lnTo>
                  <a:cubicBezTo>
                    <a:pt x="3933698" y="575564"/>
                    <a:pt x="3884295" y="624967"/>
                    <a:pt x="3823462" y="624967"/>
                  </a:cubicBezTo>
                  <a:lnTo>
                    <a:pt x="110236" y="624967"/>
                  </a:lnTo>
                  <a:cubicBezTo>
                    <a:pt x="49403" y="624967"/>
                    <a:pt x="0" y="575564"/>
                    <a:pt x="0" y="51473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3635140" y="2120741"/>
            <a:ext cx="2479710" cy="1026957"/>
          </a:xfrm>
          <a:custGeom>
            <a:avLst/>
            <a:gdLst/>
            <a:ahLst/>
            <a:cxnLst/>
            <a:rect r="r" b="b" t="t" l="l"/>
            <a:pathLst>
              <a:path h="1026957" w="2479710">
                <a:moveTo>
                  <a:pt x="0" y="0"/>
                </a:moveTo>
                <a:lnTo>
                  <a:pt x="2479710" y="0"/>
                </a:lnTo>
                <a:lnTo>
                  <a:pt x="2479710" y="1026957"/>
                </a:lnTo>
                <a:lnTo>
                  <a:pt x="0" y="102695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3889200" y="2449459"/>
            <a:ext cx="263214" cy="263214"/>
            <a:chOff x="0" y="0"/>
            <a:chExt cx="350952" cy="3509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1028" cy="351028"/>
            </a:xfrm>
            <a:custGeom>
              <a:avLst/>
              <a:gdLst/>
              <a:ahLst/>
              <a:cxnLst/>
              <a:rect r="r" b="b" t="t" l="l"/>
              <a:pathLst>
                <a:path h="351028" w="351028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lnTo>
                    <a:pt x="270002" y="0"/>
                  </a:lnTo>
                  <a:cubicBezTo>
                    <a:pt x="314706" y="0"/>
                    <a:pt x="351028" y="36322"/>
                    <a:pt x="351028" y="81026"/>
                  </a:cubicBezTo>
                  <a:lnTo>
                    <a:pt x="351028" y="270002"/>
                  </a:lnTo>
                  <a:cubicBezTo>
                    <a:pt x="351028" y="314706"/>
                    <a:pt x="314706" y="351028"/>
                    <a:pt x="270002" y="351028"/>
                  </a:cubicBezTo>
                  <a:lnTo>
                    <a:pt x="81026" y="351028"/>
                  </a:lnTo>
                  <a:cubicBezTo>
                    <a:pt x="36322" y="350901"/>
                    <a:pt x="0" y="314706"/>
                    <a:pt x="0" y="270002"/>
                  </a:cubicBezTo>
                  <a:close/>
                </a:path>
              </a:pathLst>
            </a:custGeom>
            <a:solidFill>
              <a:srgbClr val="EAF1FB"/>
            </a:solid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3949941" y="2510209"/>
            <a:ext cx="141732" cy="141732"/>
          </a:xfrm>
          <a:custGeom>
            <a:avLst/>
            <a:gdLst/>
            <a:ahLst/>
            <a:cxnLst/>
            <a:rect r="r" b="b" t="t" l="l"/>
            <a:pathLst>
              <a:path h="141732" w="141732">
                <a:moveTo>
                  <a:pt x="0" y="0"/>
                </a:moveTo>
                <a:lnTo>
                  <a:pt x="141732" y="0"/>
                </a:lnTo>
                <a:lnTo>
                  <a:pt x="141732" y="141732"/>
                </a:lnTo>
                <a:lnTo>
                  <a:pt x="0" y="141732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4458662" y="2449459"/>
            <a:ext cx="263214" cy="263214"/>
            <a:chOff x="0" y="0"/>
            <a:chExt cx="350952" cy="3509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1028" cy="351028"/>
            </a:xfrm>
            <a:custGeom>
              <a:avLst/>
              <a:gdLst/>
              <a:ahLst/>
              <a:cxnLst/>
              <a:rect r="r" b="b" t="t" l="l"/>
              <a:pathLst>
                <a:path h="351028" w="351028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lnTo>
                    <a:pt x="270002" y="0"/>
                  </a:lnTo>
                  <a:cubicBezTo>
                    <a:pt x="314706" y="0"/>
                    <a:pt x="351028" y="36322"/>
                    <a:pt x="351028" y="81026"/>
                  </a:cubicBezTo>
                  <a:lnTo>
                    <a:pt x="351028" y="270002"/>
                  </a:lnTo>
                  <a:cubicBezTo>
                    <a:pt x="351028" y="314706"/>
                    <a:pt x="314706" y="351028"/>
                    <a:pt x="270002" y="351028"/>
                  </a:cubicBezTo>
                  <a:lnTo>
                    <a:pt x="81026" y="351028"/>
                  </a:lnTo>
                  <a:cubicBezTo>
                    <a:pt x="36322" y="350901"/>
                    <a:pt x="0" y="314706"/>
                    <a:pt x="0" y="270002"/>
                  </a:cubicBezTo>
                  <a:close/>
                </a:path>
              </a:pathLst>
            </a:custGeom>
            <a:solidFill>
              <a:srgbClr val="EAF1FB"/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4519403" y="2510209"/>
            <a:ext cx="141732" cy="141732"/>
          </a:xfrm>
          <a:custGeom>
            <a:avLst/>
            <a:gdLst/>
            <a:ahLst/>
            <a:cxnLst/>
            <a:rect r="r" b="b" t="t" l="l"/>
            <a:pathLst>
              <a:path h="141732" w="141732">
                <a:moveTo>
                  <a:pt x="0" y="0"/>
                </a:moveTo>
                <a:lnTo>
                  <a:pt x="141732" y="0"/>
                </a:lnTo>
                <a:lnTo>
                  <a:pt x="141732" y="141732"/>
                </a:lnTo>
                <a:lnTo>
                  <a:pt x="0" y="141732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5028114" y="2449459"/>
            <a:ext cx="263214" cy="263214"/>
            <a:chOff x="0" y="0"/>
            <a:chExt cx="350952" cy="3509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51028" cy="351028"/>
            </a:xfrm>
            <a:custGeom>
              <a:avLst/>
              <a:gdLst/>
              <a:ahLst/>
              <a:cxnLst/>
              <a:rect r="r" b="b" t="t" l="l"/>
              <a:pathLst>
                <a:path h="351028" w="351028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lnTo>
                    <a:pt x="270002" y="0"/>
                  </a:lnTo>
                  <a:cubicBezTo>
                    <a:pt x="314706" y="0"/>
                    <a:pt x="351028" y="36322"/>
                    <a:pt x="351028" y="81026"/>
                  </a:cubicBezTo>
                  <a:lnTo>
                    <a:pt x="351028" y="270002"/>
                  </a:lnTo>
                  <a:cubicBezTo>
                    <a:pt x="351028" y="314706"/>
                    <a:pt x="314706" y="351028"/>
                    <a:pt x="270002" y="351028"/>
                  </a:cubicBezTo>
                  <a:lnTo>
                    <a:pt x="81026" y="351028"/>
                  </a:lnTo>
                  <a:cubicBezTo>
                    <a:pt x="36322" y="350901"/>
                    <a:pt x="0" y="314706"/>
                    <a:pt x="0" y="270002"/>
                  </a:cubicBezTo>
                  <a:close/>
                </a:path>
              </a:pathLst>
            </a:custGeom>
            <a:solidFill>
              <a:srgbClr val="EAF1FB"/>
            </a:solid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5088855" y="2510209"/>
            <a:ext cx="141732" cy="141732"/>
          </a:xfrm>
          <a:custGeom>
            <a:avLst/>
            <a:gdLst/>
            <a:ahLst/>
            <a:cxnLst/>
            <a:rect r="r" b="b" t="t" l="l"/>
            <a:pathLst>
              <a:path h="141732" w="141732">
                <a:moveTo>
                  <a:pt x="0" y="0"/>
                </a:moveTo>
                <a:lnTo>
                  <a:pt x="141732" y="0"/>
                </a:lnTo>
                <a:lnTo>
                  <a:pt x="141732" y="141732"/>
                </a:lnTo>
                <a:lnTo>
                  <a:pt x="0" y="141732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5597576" y="2449459"/>
            <a:ext cx="263214" cy="263214"/>
            <a:chOff x="0" y="0"/>
            <a:chExt cx="350952" cy="35095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51028" cy="351028"/>
            </a:xfrm>
            <a:custGeom>
              <a:avLst/>
              <a:gdLst/>
              <a:ahLst/>
              <a:cxnLst/>
              <a:rect r="r" b="b" t="t" l="l"/>
              <a:pathLst>
                <a:path h="351028" w="351028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lnTo>
                    <a:pt x="270002" y="0"/>
                  </a:lnTo>
                  <a:cubicBezTo>
                    <a:pt x="314706" y="0"/>
                    <a:pt x="351028" y="36322"/>
                    <a:pt x="351028" y="81026"/>
                  </a:cubicBezTo>
                  <a:lnTo>
                    <a:pt x="351028" y="270002"/>
                  </a:lnTo>
                  <a:cubicBezTo>
                    <a:pt x="351028" y="314706"/>
                    <a:pt x="314706" y="351028"/>
                    <a:pt x="270002" y="351028"/>
                  </a:cubicBezTo>
                  <a:lnTo>
                    <a:pt x="81026" y="351028"/>
                  </a:lnTo>
                  <a:cubicBezTo>
                    <a:pt x="36322" y="350901"/>
                    <a:pt x="0" y="314706"/>
                    <a:pt x="0" y="270002"/>
                  </a:cubicBezTo>
                  <a:close/>
                </a:path>
              </a:pathLst>
            </a:custGeom>
            <a:solidFill>
              <a:srgbClr val="EAF1FB"/>
            </a:solidFill>
          </p:spPr>
        </p:sp>
      </p:grpSp>
      <p:sp>
        <p:nvSpPr>
          <p:cNvPr name="Freeform 56" id="56"/>
          <p:cNvSpPr/>
          <p:nvPr/>
        </p:nvSpPr>
        <p:spPr>
          <a:xfrm flipH="false" flipV="false" rot="0">
            <a:off x="5658317" y="2510209"/>
            <a:ext cx="141732" cy="141732"/>
          </a:xfrm>
          <a:custGeom>
            <a:avLst/>
            <a:gdLst/>
            <a:ahLst/>
            <a:cxnLst/>
            <a:rect r="r" b="b" t="t" l="l"/>
            <a:pathLst>
              <a:path h="141732" w="141732">
                <a:moveTo>
                  <a:pt x="0" y="0"/>
                </a:moveTo>
                <a:lnTo>
                  <a:pt x="141732" y="0"/>
                </a:lnTo>
                <a:lnTo>
                  <a:pt x="141732" y="141732"/>
                </a:lnTo>
                <a:lnTo>
                  <a:pt x="0" y="141732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3542843" y="3161157"/>
            <a:ext cx="2652074" cy="26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9A36B9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3629025" y="3485064"/>
            <a:ext cx="2479710" cy="965464"/>
          </a:xfrm>
          <a:custGeom>
            <a:avLst/>
            <a:gdLst/>
            <a:ahLst/>
            <a:cxnLst/>
            <a:rect r="r" b="b" t="t" l="l"/>
            <a:pathLst>
              <a:path h="965464" w="2479710">
                <a:moveTo>
                  <a:pt x="0" y="0"/>
                </a:moveTo>
                <a:lnTo>
                  <a:pt x="2479710" y="0"/>
                </a:lnTo>
                <a:lnTo>
                  <a:pt x="2479710" y="965464"/>
                </a:lnTo>
                <a:lnTo>
                  <a:pt x="0" y="965464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3542843" y="4484141"/>
            <a:ext cx="2652074" cy="26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9A36B9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3635140" y="4773501"/>
            <a:ext cx="2479710" cy="1545469"/>
          </a:xfrm>
          <a:custGeom>
            <a:avLst/>
            <a:gdLst/>
            <a:ahLst/>
            <a:cxnLst/>
            <a:rect r="r" b="b" t="t" l="l"/>
            <a:pathLst>
              <a:path h="1545469" w="2479710">
                <a:moveTo>
                  <a:pt x="0" y="0"/>
                </a:moveTo>
                <a:lnTo>
                  <a:pt x="2479710" y="0"/>
                </a:lnTo>
                <a:lnTo>
                  <a:pt x="2479710" y="1545470"/>
                </a:lnTo>
                <a:lnTo>
                  <a:pt x="0" y="1545470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3985803" y="4921691"/>
            <a:ext cx="1918830" cy="13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5" b="true">
                <a:solidFill>
                  <a:srgbClr val="9A36B9"/>
                </a:solidFill>
                <a:latin typeface="Arial Bold"/>
                <a:ea typeface="Arial Bold"/>
                <a:cs typeface="Arial Bold"/>
                <a:sym typeface="Arial Bold"/>
              </a:rPr>
              <a:t>Patient Data Store (Normalized)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3746497" y="5122688"/>
            <a:ext cx="2256987" cy="1103319"/>
          </a:xfrm>
          <a:custGeom>
            <a:avLst/>
            <a:gdLst/>
            <a:ahLst/>
            <a:cxnLst/>
            <a:rect r="r" b="b" t="t" l="l"/>
            <a:pathLst>
              <a:path h="1103319" w="2256987">
                <a:moveTo>
                  <a:pt x="0" y="0"/>
                </a:moveTo>
                <a:lnTo>
                  <a:pt x="2256987" y="0"/>
                </a:lnTo>
                <a:lnTo>
                  <a:pt x="2256987" y="1103319"/>
                </a:lnTo>
                <a:lnTo>
                  <a:pt x="0" y="1103319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3846176" y="5170541"/>
            <a:ext cx="2082108" cy="93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6"/>
              </a:lnSpc>
            </a:pPr>
            <a:r>
              <a:rPr lang="en-US" sz="756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{ patient_id: "P12345", age: 50, sex: "M", bmi: 27.3, bp_systolic: 132, hba1c: 6.1, ldl: 128, hdl: 45, glucose: 112, metabolites: [...], family_history: {...}, medications: [...] }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561197" y="6331448"/>
            <a:ext cx="2652074" cy="26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9A36B9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3647380" y="6559525"/>
            <a:ext cx="2479710" cy="520770"/>
          </a:xfrm>
          <a:custGeom>
            <a:avLst/>
            <a:gdLst/>
            <a:ahLst/>
            <a:cxnLst/>
            <a:rect r="r" b="b" t="t" l="l"/>
            <a:pathLst>
              <a:path h="520770" w="2479710">
                <a:moveTo>
                  <a:pt x="0" y="0"/>
                </a:moveTo>
                <a:lnTo>
                  <a:pt x="2479710" y="0"/>
                </a:lnTo>
                <a:lnTo>
                  <a:pt x="2479710" y="520769"/>
                </a:lnTo>
                <a:lnTo>
                  <a:pt x="0" y="520769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3661429" y="6687464"/>
            <a:ext cx="2451621" cy="13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5" b="true">
                <a:solidFill>
                  <a:srgbClr val="1B8C89"/>
                </a:solidFill>
                <a:latin typeface="Arial Bold"/>
                <a:ea typeface="Arial Bold"/>
                <a:cs typeface="Arial Bold"/>
                <a:sym typeface="Arial Bold"/>
              </a:rPr>
              <a:t>Structured Patient JSON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661429" y="6837836"/>
            <a:ext cx="2451621" cy="15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"/>
              </a:lnSpc>
            </a:pPr>
            <a:r>
              <a:rPr lang="en-US" sz="797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(Clinical + Metabolomics + Lifestyle + Claims)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6188526" y="3111941"/>
            <a:ext cx="10125" cy="1557328"/>
            <a:chOff x="0" y="0"/>
            <a:chExt cx="13500" cy="207643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3462" cy="2076450"/>
            </a:xfrm>
            <a:custGeom>
              <a:avLst/>
              <a:gdLst/>
              <a:ahLst/>
              <a:cxnLst/>
              <a:rect r="r" b="b" t="t" l="l"/>
              <a:pathLst>
                <a:path h="2076450" w="13462">
                  <a:moveTo>
                    <a:pt x="0" y="0"/>
                  </a:moveTo>
                  <a:lnTo>
                    <a:pt x="13462" y="0"/>
                  </a:lnTo>
                  <a:lnTo>
                    <a:pt x="13462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Freeform 70" id="70"/>
          <p:cNvSpPr/>
          <p:nvPr/>
        </p:nvSpPr>
        <p:spPr>
          <a:xfrm flipH="false" flipV="false" rot="0">
            <a:off x="6443539" y="2241537"/>
            <a:ext cx="5626332" cy="626774"/>
          </a:xfrm>
          <a:custGeom>
            <a:avLst/>
            <a:gdLst/>
            <a:ahLst/>
            <a:cxnLst/>
            <a:rect r="r" b="b" t="t" l="l"/>
            <a:pathLst>
              <a:path h="626774" w="5626332">
                <a:moveTo>
                  <a:pt x="0" y="0"/>
                </a:moveTo>
                <a:lnTo>
                  <a:pt x="5626331" y="0"/>
                </a:lnTo>
                <a:lnTo>
                  <a:pt x="5626331" y="626774"/>
                </a:lnTo>
                <a:lnTo>
                  <a:pt x="0" y="626774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6370749" y="2383022"/>
            <a:ext cx="5771921" cy="17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1"/>
              </a:lnSpc>
            </a:pPr>
            <a:r>
              <a:rPr lang="en-US" sz="1076" b="true">
                <a:solidFill>
                  <a:srgbClr val="1B8C89"/>
                </a:solidFill>
                <a:latin typeface="Arial Bold"/>
                <a:ea typeface="Arial Bold"/>
                <a:cs typeface="Arial Bold"/>
                <a:sym typeface="Arial Bold"/>
              </a:rPr>
              <a:t>Orchestrator / Planner (LLM)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370749" y="2563768"/>
            <a:ext cx="5771921" cy="16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1"/>
              </a:lnSpc>
            </a:pPr>
            <a:r>
              <a:rPr lang="en-US" sz="87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Task Decomposition • Routing • Context Management • Memory Access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6546961" y="6536112"/>
            <a:ext cx="1682344" cy="11459"/>
            <a:chOff x="0" y="0"/>
            <a:chExt cx="2243125" cy="1527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43074" cy="15240"/>
            </a:xfrm>
            <a:custGeom>
              <a:avLst/>
              <a:gdLst/>
              <a:ahLst/>
              <a:cxnLst/>
              <a:rect r="r" b="b" t="t" l="l"/>
              <a:pathLst>
                <a:path h="15240" w="2243074">
                  <a:moveTo>
                    <a:pt x="0" y="0"/>
                  </a:moveTo>
                  <a:lnTo>
                    <a:pt x="2243074" y="0"/>
                  </a:lnTo>
                  <a:lnTo>
                    <a:pt x="2243074" y="1524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6546961" y="5521119"/>
            <a:ext cx="1682344" cy="45844"/>
            <a:chOff x="0" y="0"/>
            <a:chExt cx="2243125" cy="6112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43074" cy="61087"/>
            </a:xfrm>
            <a:custGeom>
              <a:avLst/>
              <a:gdLst/>
              <a:ahLst/>
              <a:cxnLst/>
              <a:rect r="r" b="b" t="t" l="l"/>
              <a:pathLst>
                <a:path h="61087" w="2243074">
                  <a:moveTo>
                    <a:pt x="0" y="0"/>
                  </a:moveTo>
                  <a:lnTo>
                    <a:pt x="2243074" y="0"/>
                  </a:lnTo>
                  <a:lnTo>
                    <a:pt x="2243074" y="61087"/>
                  </a:lnTo>
                  <a:lnTo>
                    <a:pt x="0" y="61087"/>
                  </a:lnTo>
                  <a:close/>
                </a:path>
              </a:pathLst>
            </a:custGeom>
            <a:solidFill>
              <a:srgbClr val="2455A8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6433937" y="5619350"/>
            <a:ext cx="195196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8"/>
              </a:lnSpc>
            </a:pPr>
            <a:r>
              <a:rPr lang="en-US" sz="1382" b="true">
                <a:solidFill>
                  <a:srgbClr val="9A36B9"/>
                </a:solidFill>
                <a:latin typeface="Arial Bold"/>
                <a:ea typeface="Arial Bold"/>
                <a:cs typeface="Arial Bold"/>
                <a:sym typeface="Arial Bold"/>
              </a:rPr>
              <a:t>Data Extraction Agent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530626" y="6653155"/>
            <a:ext cx="1715033" cy="15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"/>
              </a:lnSpc>
            </a:pPr>
            <a:r>
              <a:rPr lang="en-US" sz="902" b="true">
                <a:solidFill>
                  <a:srgbClr val="9A36B9"/>
                </a:solidFill>
                <a:latin typeface="Arial Bold"/>
                <a:ea typeface="Arial Bold"/>
                <a:cs typeface="Arial Bold"/>
                <a:sym typeface="Arial Bold"/>
              </a:rPr>
              <a:t>Patient JSON (Structured)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688350" y="5845988"/>
            <a:ext cx="1355474" cy="61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6248" indent="-68749" lvl="2">
              <a:lnSpc>
                <a:spcPts val="1506"/>
              </a:lnSpc>
              <a:buFont typeface="Arial"/>
              <a:buChar char="⚬"/>
            </a:pPr>
            <a:r>
              <a:rPr lang="en-US" sz="902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PDF / HL7 Parsing Table Extraction / Metabolite Parsing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8487585" y="6011208"/>
            <a:ext cx="1682344" cy="11459"/>
            <a:chOff x="0" y="0"/>
            <a:chExt cx="2243125" cy="1527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43074" cy="15240"/>
            </a:xfrm>
            <a:custGeom>
              <a:avLst/>
              <a:gdLst/>
              <a:ahLst/>
              <a:cxnLst/>
              <a:rect r="r" b="b" t="t" l="l"/>
              <a:pathLst>
                <a:path h="15240" w="2243074">
                  <a:moveTo>
                    <a:pt x="0" y="0"/>
                  </a:moveTo>
                  <a:lnTo>
                    <a:pt x="2243074" y="0"/>
                  </a:lnTo>
                  <a:lnTo>
                    <a:pt x="2243074" y="1524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385905" y="4949857"/>
            <a:ext cx="1877816" cy="51168"/>
            <a:chOff x="0" y="0"/>
            <a:chExt cx="2503754" cy="682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503805" cy="68199"/>
            </a:xfrm>
            <a:custGeom>
              <a:avLst/>
              <a:gdLst/>
              <a:ahLst/>
              <a:cxnLst/>
              <a:rect r="r" b="b" t="t" l="l"/>
              <a:pathLst>
                <a:path h="68199" w="2503805">
                  <a:moveTo>
                    <a:pt x="0" y="0"/>
                  </a:moveTo>
                  <a:lnTo>
                    <a:pt x="2503805" y="0"/>
                  </a:lnTo>
                  <a:lnTo>
                    <a:pt x="2503805" y="68199"/>
                  </a:lnTo>
                  <a:lnTo>
                    <a:pt x="0" y="68199"/>
                  </a:lnTo>
                  <a:close/>
                </a:path>
              </a:pathLst>
            </a:custGeom>
            <a:solidFill>
              <a:srgbClr val="1B8C89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8306753" y="6053623"/>
            <a:ext cx="1956978" cy="17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4"/>
              </a:lnSpc>
            </a:pPr>
            <a:r>
              <a:rPr lang="en-US" sz="1029" b="true">
                <a:solidFill>
                  <a:srgbClr val="1B8C89"/>
                </a:solidFill>
                <a:latin typeface="Arial Bold"/>
                <a:ea typeface="Arial Bold"/>
                <a:cs typeface="Arial Bold"/>
                <a:sym typeface="Arial Bold"/>
              </a:rPr>
              <a:t>Clinical Insights &amp; Features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6500736" y="4510545"/>
            <a:ext cx="1751019" cy="11821"/>
            <a:chOff x="0" y="0"/>
            <a:chExt cx="2334692" cy="1576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334641" cy="15748"/>
            </a:xfrm>
            <a:custGeom>
              <a:avLst/>
              <a:gdLst/>
              <a:ahLst/>
              <a:cxnLst/>
              <a:rect r="r" b="b" t="t" l="l"/>
              <a:pathLst>
                <a:path h="15748" w="2334641">
                  <a:moveTo>
                    <a:pt x="0" y="0"/>
                  </a:moveTo>
                  <a:lnTo>
                    <a:pt x="2334641" y="0"/>
                  </a:lnTo>
                  <a:lnTo>
                    <a:pt x="2334641" y="15748"/>
                  </a:lnTo>
                  <a:lnTo>
                    <a:pt x="0" y="1574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500736" y="3393815"/>
            <a:ext cx="1962655" cy="52988"/>
            <a:chOff x="0" y="0"/>
            <a:chExt cx="2616873" cy="7065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616835" cy="70612"/>
            </a:xfrm>
            <a:custGeom>
              <a:avLst/>
              <a:gdLst/>
              <a:ahLst/>
              <a:cxnLst/>
              <a:rect r="r" b="b" t="t" l="l"/>
              <a:pathLst>
                <a:path h="70612" w="2616835">
                  <a:moveTo>
                    <a:pt x="0" y="0"/>
                  </a:moveTo>
                  <a:lnTo>
                    <a:pt x="2616835" y="0"/>
                  </a:lnTo>
                  <a:lnTo>
                    <a:pt x="2616835" y="70612"/>
                  </a:lnTo>
                  <a:lnTo>
                    <a:pt x="0" y="70612"/>
                  </a:lnTo>
                  <a:close/>
                </a:path>
              </a:pathLst>
            </a:custGeom>
            <a:solidFill>
              <a:srgbClr val="E08A2A"/>
            </a:solid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6379626" y="3505733"/>
            <a:ext cx="2142230" cy="25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9"/>
              </a:lnSpc>
            </a:pPr>
            <a:r>
              <a:rPr lang="en-US" sz="1416" b="true">
                <a:solidFill>
                  <a:srgbClr val="E08A2A"/>
                </a:solidFill>
                <a:latin typeface="Arial Bold"/>
                <a:ea typeface="Arial Bold"/>
                <a:cs typeface="Arial Bold"/>
                <a:sym typeface="Arial Bold"/>
              </a:rPr>
              <a:t>Guideline Lookup Agent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6644973" y="3712902"/>
            <a:ext cx="1529886" cy="80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"/>
              </a:lnSpc>
            </a:pPr>
            <a:r>
              <a:rPr lang="en-US" sz="93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Guideline Retrieval</a:t>
            </a:r>
          </a:p>
          <a:p>
            <a:pPr algn="l">
              <a:lnSpc>
                <a:spcPts val="1552"/>
              </a:lnSpc>
            </a:pPr>
            <a:r>
              <a:rPr lang="en-US" sz="93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• Evidence Search </a:t>
            </a:r>
          </a:p>
          <a:p>
            <a:pPr algn="l">
              <a:lnSpc>
                <a:spcPts val="1552"/>
              </a:lnSpc>
            </a:pPr>
            <a:r>
              <a:rPr lang="en-US" sz="93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Reference Ranges </a:t>
            </a:r>
          </a:p>
          <a:p>
            <a:pPr algn="l">
              <a:lnSpc>
                <a:spcPts val="1552"/>
              </a:lnSpc>
            </a:pPr>
            <a:r>
              <a:rPr lang="en-US" sz="93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Best Practice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6483734" y="4549769"/>
            <a:ext cx="1785042" cy="316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"/>
              </a:lnSpc>
            </a:pPr>
            <a:r>
              <a:rPr lang="en-US" sz="930" b="true">
                <a:solidFill>
                  <a:srgbClr val="E08A2A"/>
                </a:solidFill>
                <a:latin typeface="Arial Bold"/>
                <a:ea typeface="Arial Bold"/>
                <a:cs typeface="Arial Bold"/>
                <a:sym typeface="Arial Bold"/>
              </a:rPr>
              <a:t>Retrieved Evidence &amp; Guidelines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0369506" y="5097809"/>
            <a:ext cx="1526562" cy="11459"/>
            <a:chOff x="0" y="0"/>
            <a:chExt cx="2035416" cy="1527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35429" cy="15240"/>
            </a:xfrm>
            <a:custGeom>
              <a:avLst/>
              <a:gdLst/>
              <a:ahLst/>
              <a:cxnLst/>
              <a:rect r="r" b="b" t="t" l="l"/>
              <a:pathLst>
                <a:path h="15240" w="2035429">
                  <a:moveTo>
                    <a:pt x="0" y="0"/>
                  </a:moveTo>
                  <a:lnTo>
                    <a:pt x="2035429" y="0"/>
                  </a:lnTo>
                  <a:lnTo>
                    <a:pt x="2035429" y="1524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384346" y="3907812"/>
            <a:ext cx="1526562" cy="45844"/>
            <a:chOff x="0" y="0"/>
            <a:chExt cx="2035416" cy="6112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035429" cy="61087"/>
            </a:xfrm>
            <a:custGeom>
              <a:avLst/>
              <a:gdLst/>
              <a:ahLst/>
              <a:cxnLst/>
              <a:rect r="r" b="b" t="t" l="l"/>
              <a:pathLst>
                <a:path h="61087" w="2035429">
                  <a:moveTo>
                    <a:pt x="0" y="0"/>
                  </a:moveTo>
                  <a:lnTo>
                    <a:pt x="2035429" y="0"/>
                  </a:lnTo>
                  <a:lnTo>
                    <a:pt x="2035429" y="61087"/>
                  </a:lnTo>
                  <a:lnTo>
                    <a:pt x="0" y="61087"/>
                  </a:lnTo>
                  <a:close/>
                </a:path>
              </a:pathLst>
            </a:custGeom>
            <a:solidFill>
              <a:srgbClr val="6D3FB0"/>
            </a:solidFill>
          </p:spPr>
        </p:sp>
      </p:grpSp>
      <p:sp>
        <p:nvSpPr>
          <p:cNvPr name="TextBox 96" id="96"/>
          <p:cNvSpPr txBox="true"/>
          <p:nvPr/>
        </p:nvSpPr>
        <p:spPr>
          <a:xfrm rot="0">
            <a:off x="10354685" y="4016721"/>
            <a:ext cx="1632271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8"/>
              </a:lnSpc>
            </a:pPr>
            <a:r>
              <a:rPr lang="en-US" sz="1382" b="true">
                <a:solidFill>
                  <a:srgbClr val="6D3FB0"/>
                </a:solidFill>
                <a:latin typeface="Arial Bold"/>
                <a:ea typeface="Arial Bold"/>
                <a:cs typeface="Arial Bold"/>
                <a:sym typeface="Arial Bold"/>
              </a:rPr>
              <a:t>Risk Scoring Agent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0510399" y="4257189"/>
            <a:ext cx="1333776" cy="779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6"/>
              </a:lnSpc>
            </a:pPr>
            <a:r>
              <a:rPr lang="en-US" sz="902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Feature Aggregation </a:t>
            </a:r>
          </a:p>
          <a:p>
            <a:pPr algn="l">
              <a:lnSpc>
                <a:spcPts val="1506"/>
              </a:lnSpc>
            </a:pPr>
            <a:r>
              <a:rPr lang="en-US" sz="902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ML / Statistical Model </a:t>
            </a:r>
          </a:p>
          <a:p>
            <a:pPr algn="l">
              <a:lnSpc>
                <a:spcPts val="1506"/>
              </a:lnSpc>
            </a:pPr>
            <a:r>
              <a:rPr lang="en-US" sz="902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Risk Score Generation </a:t>
            </a:r>
          </a:p>
          <a:p>
            <a:pPr algn="l">
              <a:lnSpc>
                <a:spcPts val="1506"/>
              </a:lnSpc>
            </a:pPr>
            <a:r>
              <a:rPr lang="en-US" sz="902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Uncertainty Estimation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0434742" y="5075930"/>
            <a:ext cx="1654845" cy="45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2"/>
              </a:lnSpc>
            </a:pPr>
            <a:r>
              <a:rPr lang="en-US" sz="1377" b="true">
                <a:solidFill>
                  <a:srgbClr val="6D3FB0"/>
                </a:solidFill>
                <a:latin typeface="Arial Bold"/>
                <a:ea typeface="Arial Bold"/>
                <a:cs typeface="Arial Bold"/>
                <a:sym typeface="Arial Bold"/>
              </a:rPr>
              <a:t>Risk Scores &amp; Probabilities</a:t>
            </a:r>
          </a:p>
        </p:txBody>
      </p:sp>
      <p:sp>
        <p:nvSpPr>
          <p:cNvPr name="Freeform 99" id="99"/>
          <p:cNvSpPr/>
          <p:nvPr/>
        </p:nvSpPr>
        <p:spPr>
          <a:xfrm flipH="false" flipV="false" rot="0">
            <a:off x="8067399" y="6880279"/>
            <a:ext cx="3949837" cy="1233430"/>
          </a:xfrm>
          <a:custGeom>
            <a:avLst/>
            <a:gdLst/>
            <a:ahLst/>
            <a:cxnLst/>
            <a:rect r="r" b="b" t="t" l="l"/>
            <a:pathLst>
              <a:path h="1233430" w="3949837">
                <a:moveTo>
                  <a:pt x="0" y="0"/>
                </a:moveTo>
                <a:lnTo>
                  <a:pt x="3949836" y="0"/>
                </a:lnTo>
                <a:lnTo>
                  <a:pt x="3949836" y="1233430"/>
                </a:lnTo>
                <a:lnTo>
                  <a:pt x="0" y="1233430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0" id="100"/>
          <p:cNvSpPr txBox="true"/>
          <p:nvPr/>
        </p:nvSpPr>
        <p:spPr>
          <a:xfrm rot="0">
            <a:off x="8241173" y="6996941"/>
            <a:ext cx="3478473" cy="19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2" b="true">
                <a:solidFill>
                  <a:srgbClr val="6D3FB0"/>
                </a:solidFill>
                <a:latin typeface="Arial Bold"/>
                <a:ea typeface="Arial Bold"/>
                <a:cs typeface="Arial Bold"/>
                <a:sym typeface="Arial Bold"/>
              </a:rPr>
              <a:t>⛃ Shared State / Memory Bus (LangGraph State)</a:t>
            </a:r>
          </a:p>
        </p:txBody>
      </p:sp>
      <p:sp>
        <p:nvSpPr>
          <p:cNvPr name="Freeform 101" id="101"/>
          <p:cNvSpPr/>
          <p:nvPr/>
        </p:nvSpPr>
        <p:spPr>
          <a:xfrm flipH="false" flipV="false" rot="0">
            <a:off x="8200892" y="7275071"/>
            <a:ext cx="929573" cy="354673"/>
          </a:xfrm>
          <a:custGeom>
            <a:avLst/>
            <a:gdLst/>
            <a:ahLst/>
            <a:cxnLst/>
            <a:rect r="r" b="b" t="t" l="l"/>
            <a:pathLst>
              <a:path h="354673" w="929573">
                <a:moveTo>
                  <a:pt x="0" y="0"/>
                </a:moveTo>
                <a:lnTo>
                  <a:pt x="929573" y="0"/>
                </a:lnTo>
                <a:lnTo>
                  <a:pt x="929573" y="354673"/>
                </a:lnTo>
                <a:lnTo>
                  <a:pt x="0" y="354673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2" id="102"/>
          <p:cNvSpPr txBox="true"/>
          <p:nvPr/>
        </p:nvSpPr>
        <p:spPr>
          <a:xfrm rot="0">
            <a:off x="8355511" y="7354919"/>
            <a:ext cx="711432" cy="17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933">
                <a:solidFill>
                  <a:srgbClr val="4B3A70"/>
                </a:solidFill>
                <a:latin typeface="Arial"/>
                <a:ea typeface="Arial"/>
                <a:cs typeface="Arial"/>
                <a:sym typeface="Arial"/>
              </a:rPr>
              <a:t>Patient State</a:t>
            </a:r>
          </a:p>
        </p:txBody>
      </p:sp>
      <p:sp>
        <p:nvSpPr>
          <p:cNvPr name="Freeform 103" id="103"/>
          <p:cNvSpPr/>
          <p:nvPr/>
        </p:nvSpPr>
        <p:spPr>
          <a:xfrm flipH="false" flipV="false" rot="0">
            <a:off x="9177880" y="7275071"/>
            <a:ext cx="1258376" cy="354673"/>
          </a:xfrm>
          <a:custGeom>
            <a:avLst/>
            <a:gdLst/>
            <a:ahLst/>
            <a:cxnLst/>
            <a:rect r="r" b="b" t="t" l="l"/>
            <a:pathLst>
              <a:path h="354673" w="1258376">
                <a:moveTo>
                  <a:pt x="0" y="0"/>
                </a:moveTo>
                <a:lnTo>
                  <a:pt x="1258377" y="0"/>
                </a:lnTo>
                <a:lnTo>
                  <a:pt x="1258377" y="354673"/>
                </a:lnTo>
                <a:lnTo>
                  <a:pt x="0" y="354673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4" id="104"/>
          <p:cNvSpPr txBox="true"/>
          <p:nvPr/>
        </p:nvSpPr>
        <p:spPr>
          <a:xfrm rot="0">
            <a:off x="9332490" y="7354919"/>
            <a:ext cx="1040149" cy="17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933">
                <a:solidFill>
                  <a:srgbClr val="4B3A70"/>
                </a:solidFill>
                <a:latin typeface="Arial"/>
                <a:ea typeface="Arial"/>
                <a:cs typeface="Arial"/>
                <a:sym typeface="Arial"/>
              </a:rPr>
              <a:t>Retrieved Evidence</a:t>
            </a:r>
          </a:p>
        </p:txBody>
      </p:sp>
      <p:sp>
        <p:nvSpPr>
          <p:cNvPr name="Freeform 105" id="105"/>
          <p:cNvSpPr/>
          <p:nvPr/>
        </p:nvSpPr>
        <p:spPr>
          <a:xfrm flipH="false" flipV="false" rot="0">
            <a:off x="10483586" y="7275071"/>
            <a:ext cx="1440466" cy="354673"/>
          </a:xfrm>
          <a:custGeom>
            <a:avLst/>
            <a:gdLst/>
            <a:ahLst/>
            <a:cxnLst/>
            <a:rect r="r" b="b" t="t" l="l"/>
            <a:pathLst>
              <a:path h="354673" w="1440466">
                <a:moveTo>
                  <a:pt x="0" y="0"/>
                </a:moveTo>
                <a:lnTo>
                  <a:pt x="1440466" y="0"/>
                </a:lnTo>
                <a:lnTo>
                  <a:pt x="1440466" y="354673"/>
                </a:lnTo>
                <a:lnTo>
                  <a:pt x="0" y="354673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6" id="106"/>
          <p:cNvSpPr txBox="true"/>
          <p:nvPr/>
        </p:nvSpPr>
        <p:spPr>
          <a:xfrm rot="0">
            <a:off x="10638206" y="7354919"/>
            <a:ext cx="1222248" cy="17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933">
                <a:solidFill>
                  <a:srgbClr val="4B3A70"/>
                </a:solidFill>
                <a:latin typeface="Arial"/>
                <a:ea typeface="Arial"/>
                <a:cs typeface="Arial"/>
                <a:sym typeface="Arial"/>
              </a:rPr>
              <a:t>Intermediate Features</a:t>
            </a:r>
          </a:p>
        </p:txBody>
      </p:sp>
      <p:sp>
        <p:nvSpPr>
          <p:cNvPr name="Freeform 107" id="107"/>
          <p:cNvSpPr/>
          <p:nvPr/>
        </p:nvSpPr>
        <p:spPr>
          <a:xfrm flipH="false" flipV="false" rot="0">
            <a:off x="9376610" y="7686599"/>
            <a:ext cx="1125436" cy="354673"/>
          </a:xfrm>
          <a:custGeom>
            <a:avLst/>
            <a:gdLst/>
            <a:ahLst/>
            <a:cxnLst/>
            <a:rect r="r" b="b" t="t" l="l"/>
            <a:pathLst>
              <a:path h="354673" w="1125436">
                <a:moveTo>
                  <a:pt x="0" y="0"/>
                </a:moveTo>
                <a:lnTo>
                  <a:pt x="1125436" y="0"/>
                </a:lnTo>
                <a:lnTo>
                  <a:pt x="1125436" y="354673"/>
                </a:lnTo>
                <a:lnTo>
                  <a:pt x="0" y="354673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8" id="108"/>
          <p:cNvSpPr txBox="true"/>
          <p:nvPr/>
        </p:nvSpPr>
        <p:spPr>
          <a:xfrm rot="0">
            <a:off x="9531229" y="7766437"/>
            <a:ext cx="907313" cy="17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933">
                <a:solidFill>
                  <a:srgbClr val="4B3A70"/>
                </a:solidFill>
                <a:latin typeface="Arial"/>
                <a:ea typeface="Arial"/>
                <a:cs typeface="Arial"/>
                <a:sym typeface="Arial"/>
              </a:rPr>
              <a:t>Agent Messages</a:t>
            </a:r>
          </a:p>
        </p:txBody>
      </p:sp>
      <p:sp>
        <p:nvSpPr>
          <p:cNvPr name="Freeform 109" id="109"/>
          <p:cNvSpPr/>
          <p:nvPr/>
        </p:nvSpPr>
        <p:spPr>
          <a:xfrm flipH="false" flipV="false" rot="0">
            <a:off x="10549480" y="7686599"/>
            <a:ext cx="936860" cy="354673"/>
          </a:xfrm>
          <a:custGeom>
            <a:avLst/>
            <a:gdLst/>
            <a:ahLst/>
            <a:cxnLst/>
            <a:rect r="r" b="b" t="t" l="l"/>
            <a:pathLst>
              <a:path h="354673" w="936860">
                <a:moveTo>
                  <a:pt x="0" y="0"/>
                </a:moveTo>
                <a:lnTo>
                  <a:pt x="936860" y="0"/>
                </a:lnTo>
                <a:lnTo>
                  <a:pt x="936860" y="354673"/>
                </a:lnTo>
                <a:lnTo>
                  <a:pt x="0" y="354673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0" id="110"/>
          <p:cNvSpPr txBox="true"/>
          <p:nvPr/>
        </p:nvSpPr>
        <p:spPr>
          <a:xfrm rot="0">
            <a:off x="10704090" y="7766437"/>
            <a:ext cx="718633" cy="17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933">
                <a:solidFill>
                  <a:srgbClr val="4B3A70"/>
                </a:solidFill>
                <a:latin typeface="Arial"/>
                <a:ea typeface="Arial"/>
                <a:cs typeface="Arial"/>
                <a:sym typeface="Arial"/>
              </a:rPr>
              <a:t>Tool Outputs</a:t>
            </a:r>
          </a:p>
        </p:txBody>
      </p:sp>
      <p:sp>
        <p:nvSpPr>
          <p:cNvPr name="Freeform 111" id="111"/>
          <p:cNvSpPr/>
          <p:nvPr/>
        </p:nvSpPr>
        <p:spPr>
          <a:xfrm flipH="false" flipV="false" rot="0">
            <a:off x="8200892" y="7686599"/>
            <a:ext cx="1131589" cy="354673"/>
          </a:xfrm>
          <a:custGeom>
            <a:avLst/>
            <a:gdLst/>
            <a:ahLst/>
            <a:cxnLst/>
            <a:rect r="r" b="b" t="t" l="l"/>
            <a:pathLst>
              <a:path h="354673" w="1131589">
                <a:moveTo>
                  <a:pt x="0" y="0"/>
                </a:moveTo>
                <a:lnTo>
                  <a:pt x="1131589" y="0"/>
                </a:lnTo>
                <a:lnTo>
                  <a:pt x="1131589" y="354673"/>
                </a:lnTo>
                <a:lnTo>
                  <a:pt x="0" y="354673"/>
                </a:lnTo>
                <a:lnTo>
                  <a:pt x="0" y="0"/>
                </a:lnTo>
                <a:close/>
              </a:path>
            </a:pathLst>
          </a:custGeom>
          <a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2" id="112"/>
          <p:cNvSpPr txBox="true"/>
          <p:nvPr/>
        </p:nvSpPr>
        <p:spPr>
          <a:xfrm rot="0">
            <a:off x="8355511" y="7766437"/>
            <a:ext cx="913362" cy="17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933">
                <a:solidFill>
                  <a:srgbClr val="4B3A70"/>
                </a:solidFill>
                <a:latin typeface="Arial"/>
                <a:ea typeface="Arial"/>
                <a:cs typeface="Arial"/>
                <a:sym typeface="Arial"/>
              </a:rPr>
              <a:t>Execution Status</a:t>
            </a:r>
          </a:p>
        </p:txBody>
      </p:sp>
      <p:sp>
        <p:nvSpPr>
          <p:cNvPr name="Freeform 113" id="113"/>
          <p:cNvSpPr/>
          <p:nvPr/>
        </p:nvSpPr>
        <p:spPr>
          <a:xfrm flipH="false" flipV="false" rot="0">
            <a:off x="1137590" y="8332641"/>
            <a:ext cx="10717016" cy="987190"/>
          </a:xfrm>
          <a:custGeom>
            <a:avLst/>
            <a:gdLst/>
            <a:ahLst/>
            <a:cxnLst/>
            <a:rect r="r" b="b" t="t" l="l"/>
            <a:pathLst>
              <a:path h="987190" w="10717016">
                <a:moveTo>
                  <a:pt x="0" y="0"/>
                </a:moveTo>
                <a:lnTo>
                  <a:pt x="10717015" y="0"/>
                </a:lnTo>
                <a:lnTo>
                  <a:pt x="10717015" y="987190"/>
                </a:lnTo>
                <a:lnTo>
                  <a:pt x="0" y="987190"/>
                </a:lnTo>
                <a:lnTo>
                  <a:pt x="0" y="0"/>
                </a:lnTo>
                <a:close/>
              </a:path>
            </a:pathLst>
          </a:custGeom>
          <a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4" id="114"/>
          <p:cNvSpPr txBox="true"/>
          <p:nvPr/>
        </p:nvSpPr>
        <p:spPr>
          <a:xfrm rot="0">
            <a:off x="1153887" y="8354949"/>
            <a:ext cx="10690288" cy="311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4"/>
              </a:lnSpc>
            </a:pPr>
            <a:r>
              <a:rPr lang="en-US" sz="1761" b="true">
                <a:solidFill>
                  <a:srgbClr val="6D3FB0"/>
                </a:solidFill>
                <a:latin typeface="Arial Bold"/>
                <a:ea typeface="Arial Bold"/>
                <a:cs typeface="Arial Bold"/>
                <a:sym typeface="Arial Bold"/>
              </a:rPr>
              <a:t>Tooling Layer (MCP / Function Calling)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782242" y="8780012"/>
            <a:ext cx="805672" cy="40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32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Vector DB (RAG)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3351371" y="8780012"/>
            <a:ext cx="1122359" cy="40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32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SQL / DW (Claims, EHR)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4864265" y="8780012"/>
            <a:ext cx="1551413" cy="40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32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Guideline API (WHO/ADA/KDIGO)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6574460" y="8780012"/>
            <a:ext cx="1585512" cy="42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32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Lab Reference API (ห้องปฏิบัติการอ้างอิง)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8477336" y="8780012"/>
            <a:ext cx="1234573" cy="40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32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ICD-10 / LOINC (Terminology)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0139458" y="8780012"/>
            <a:ext cx="1364999" cy="40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32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Report (BMI, eGFR, etc.)</a:t>
            </a:r>
          </a:p>
        </p:txBody>
      </p:sp>
      <p:sp>
        <p:nvSpPr>
          <p:cNvPr name="Freeform 121" id="121"/>
          <p:cNvSpPr/>
          <p:nvPr/>
        </p:nvSpPr>
        <p:spPr>
          <a:xfrm flipH="false" flipV="false" rot="0">
            <a:off x="12389739" y="2094967"/>
            <a:ext cx="2415140" cy="1271616"/>
          </a:xfrm>
          <a:custGeom>
            <a:avLst/>
            <a:gdLst/>
            <a:ahLst/>
            <a:cxnLst/>
            <a:rect r="r" b="b" t="t" l="l"/>
            <a:pathLst>
              <a:path h="1271616" w="2415140">
                <a:moveTo>
                  <a:pt x="0" y="0"/>
                </a:moveTo>
                <a:lnTo>
                  <a:pt x="2415140" y="0"/>
                </a:lnTo>
                <a:lnTo>
                  <a:pt x="2415140" y="1271616"/>
                </a:lnTo>
                <a:lnTo>
                  <a:pt x="0" y="1271616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2" id="122"/>
          <p:cNvGrpSpPr/>
          <p:nvPr/>
        </p:nvGrpSpPr>
        <p:grpSpPr>
          <a:xfrm rot="0">
            <a:off x="12520898" y="2226116"/>
            <a:ext cx="303714" cy="303714"/>
            <a:chOff x="0" y="0"/>
            <a:chExt cx="404952" cy="40495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05003" cy="405003"/>
            </a:xfrm>
            <a:custGeom>
              <a:avLst/>
              <a:gdLst/>
              <a:ahLst/>
              <a:cxnLst/>
              <a:rect r="r" b="b" t="t" l="l"/>
              <a:pathLst>
                <a:path h="405003" w="405003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310515" y="0"/>
                  </a:lnTo>
                  <a:cubicBezTo>
                    <a:pt x="362712" y="0"/>
                    <a:pt x="405003" y="42291"/>
                    <a:pt x="405003" y="94488"/>
                  </a:cubicBezTo>
                  <a:lnTo>
                    <a:pt x="405003" y="310515"/>
                  </a:lnTo>
                  <a:cubicBezTo>
                    <a:pt x="405003" y="362712"/>
                    <a:pt x="362712" y="405003"/>
                    <a:pt x="310515" y="405003"/>
                  </a:cubicBezTo>
                  <a:lnTo>
                    <a:pt x="94488" y="405003"/>
                  </a:lnTo>
                  <a:cubicBezTo>
                    <a:pt x="42291" y="405003"/>
                    <a:pt x="0" y="362712"/>
                    <a:pt x="0" y="310515"/>
                  </a:cubicBezTo>
                  <a:close/>
                </a:path>
              </a:pathLst>
            </a:custGeom>
            <a:solidFill>
              <a:srgbClr val="D6336C"/>
            </a:solidFill>
          </p:spPr>
        </p:sp>
      </p:grpSp>
      <p:sp>
        <p:nvSpPr>
          <p:cNvPr name="Freeform 124" id="124"/>
          <p:cNvSpPr/>
          <p:nvPr/>
        </p:nvSpPr>
        <p:spPr>
          <a:xfrm flipH="false" flipV="false" rot="0">
            <a:off x="12591764" y="2296982"/>
            <a:ext cx="161982" cy="161982"/>
          </a:xfrm>
          <a:custGeom>
            <a:avLst/>
            <a:gdLst/>
            <a:ahLst/>
            <a:cxnLst/>
            <a:rect r="r" b="b" t="t" l="l"/>
            <a:pathLst>
              <a:path h="161982" w="161982">
                <a:moveTo>
                  <a:pt x="0" y="0"/>
                </a:moveTo>
                <a:lnTo>
                  <a:pt x="161982" y="0"/>
                </a:lnTo>
                <a:lnTo>
                  <a:pt x="161982" y="161982"/>
                </a:lnTo>
                <a:lnTo>
                  <a:pt x="0" y="161982"/>
                </a:lnTo>
                <a:lnTo>
                  <a:pt x="0" y="0"/>
                </a:lnTo>
                <a:close/>
              </a:path>
            </a:pathLst>
          </a:custGeom>
          <a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5" id="125"/>
          <p:cNvSpPr/>
          <p:nvPr/>
        </p:nvSpPr>
        <p:spPr>
          <a:xfrm flipH="false" flipV="false" rot="0">
            <a:off x="12354487" y="3516668"/>
            <a:ext cx="2476757" cy="1821123"/>
          </a:xfrm>
          <a:custGeom>
            <a:avLst/>
            <a:gdLst/>
            <a:ahLst/>
            <a:cxnLst/>
            <a:rect r="r" b="b" t="t" l="l"/>
            <a:pathLst>
              <a:path h="1821123" w="2476757">
                <a:moveTo>
                  <a:pt x="0" y="0"/>
                </a:moveTo>
                <a:lnTo>
                  <a:pt x="2476757" y="0"/>
                </a:lnTo>
                <a:lnTo>
                  <a:pt x="2476757" y="1821123"/>
                </a:lnTo>
                <a:lnTo>
                  <a:pt x="0" y="1821123"/>
                </a:lnTo>
                <a:lnTo>
                  <a:pt x="0" y="0"/>
                </a:lnTo>
                <a:close/>
              </a:path>
            </a:pathLst>
          </a:custGeom>
          <a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6" id="126"/>
          <p:cNvSpPr txBox="true"/>
          <p:nvPr/>
        </p:nvSpPr>
        <p:spPr>
          <a:xfrm rot="0">
            <a:off x="12454166" y="3597135"/>
            <a:ext cx="2229079" cy="19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218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Disease Risk Vector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2488608" y="3882885"/>
            <a:ext cx="1173366" cy="13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"/>
              </a:lnSpc>
            </a:pPr>
            <a:r>
              <a:rPr lang="en-US" sz="774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เบาหวาน (Diabetes)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13668708" y="3907041"/>
            <a:ext cx="697697" cy="82810"/>
            <a:chOff x="0" y="0"/>
            <a:chExt cx="930262" cy="11041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30275" cy="110363"/>
            </a:xfrm>
            <a:custGeom>
              <a:avLst/>
              <a:gdLst/>
              <a:ahLst/>
              <a:cxnLst/>
              <a:rect r="r" b="b" t="t" l="l"/>
              <a:pathLst>
                <a:path h="110363" w="930275">
                  <a:moveTo>
                    <a:pt x="0" y="55245"/>
                  </a:moveTo>
                  <a:cubicBezTo>
                    <a:pt x="0" y="24765"/>
                    <a:pt x="24130" y="0"/>
                    <a:pt x="53975" y="0"/>
                  </a:cubicBezTo>
                  <a:lnTo>
                    <a:pt x="876300" y="0"/>
                  </a:lnTo>
                  <a:cubicBezTo>
                    <a:pt x="906145" y="0"/>
                    <a:pt x="930275" y="24765"/>
                    <a:pt x="930275" y="55245"/>
                  </a:cubicBezTo>
                  <a:cubicBezTo>
                    <a:pt x="930275" y="85725"/>
                    <a:pt x="906145" y="110363"/>
                    <a:pt x="876300" y="110363"/>
                  </a:cubicBezTo>
                  <a:lnTo>
                    <a:pt x="53975" y="110363"/>
                  </a:lnTo>
                  <a:cubicBezTo>
                    <a:pt x="24130" y="110363"/>
                    <a:pt x="0" y="85725"/>
                    <a:pt x="0" y="55245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3668708" y="3907041"/>
            <a:ext cx="502348" cy="82810"/>
            <a:chOff x="0" y="0"/>
            <a:chExt cx="669798" cy="11041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669798" cy="110363"/>
            </a:xfrm>
            <a:custGeom>
              <a:avLst/>
              <a:gdLst/>
              <a:ahLst/>
              <a:cxnLst/>
              <a:rect r="r" b="b" t="t" l="l"/>
              <a:pathLst>
                <a:path h="110363" w="669798">
                  <a:moveTo>
                    <a:pt x="0" y="0"/>
                  </a:moveTo>
                  <a:lnTo>
                    <a:pt x="669798" y="0"/>
                  </a:lnTo>
                  <a:lnTo>
                    <a:pt x="669798" y="110363"/>
                  </a:lnTo>
                  <a:lnTo>
                    <a:pt x="0" y="110363"/>
                  </a:ln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32" id="132"/>
          <p:cNvSpPr txBox="true"/>
          <p:nvPr/>
        </p:nvSpPr>
        <p:spPr>
          <a:xfrm rot="0">
            <a:off x="14369434" y="3899849"/>
            <a:ext cx="313811" cy="140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8"/>
              </a:lnSpc>
            </a:pPr>
            <a:r>
              <a:rPr lang="en-US" sz="815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72%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2474302" y="4145709"/>
            <a:ext cx="1173366" cy="246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"/>
              </a:lnSpc>
            </a:pPr>
            <a:r>
              <a:rPr lang="en-US" sz="774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โรคหัวใจและหลอดเลือด (CVD)</a:t>
            </a:r>
          </a:p>
        </p:txBody>
      </p:sp>
      <p:grpSp>
        <p:nvGrpSpPr>
          <p:cNvPr name="Group 134" id="134"/>
          <p:cNvGrpSpPr/>
          <p:nvPr/>
        </p:nvGrpSpPr>
        <p:grpSpPr>
          <a:xfrm rot="0">
            <a:off x="13668708" y="4204659"/>
            <a:ext cx="697697" cy="82810"/>
            <a:chOff x="0" y="0"/>
            <a:chExt cx="930262" cy="11041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30275" cy="110363"/>
            </a:xfrm>
            <a:custGeom>
              <a:avLst/>
              <a:gdLst/>
              <a:ahLst/>
              <a:cxnLst/>
              <a:rect r="r" b="b" t="t" l="l"/>
              <a:pathLst>
                <a:path h="110363" w="930275">
                  <a:moveTo>
                    <a:pt x="0" y="55245"/>
                  </a:moveTo>
                  <a:cubicBezTo>
                    <a:pt x="0" y="24765"/>
                    <a:pt x="24130" y="0"/>
                    <a:pt x="53975" y="0"/>
                  </a:cubicBezTo>
                  <a:lnTo>
                    <a:pt x="876300" y="0"/>
                  </a:lnTo>
                  <a:cubicBezTo>
                    <a:pt x="906145" y="0"/>
                    <a:pt x="930275" y="24765"/>
                    <a:pt x="930275" y="55245"/>
                  </a:cubicBezTo>
                  <a:cubicBezTo>
                    <a:pt x="930275" y="85725"/>
                    <a:pt x="906145" y="110363"/>
                    <a:pt x="876300" y="110363"/>
                  </a:cubicBezTo>
                  <a:lnTo>
                    <a:pt x="53975" y="110363"/>
                  </a:lnTo>
                  <a:cubicBezTo>
                    <a:pt x="24130" y="110363"/>
                    <a:pt x="0" y="85725"/>
                    <a:pt x="0" y="55245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3668708" y="4204659"/>
            <a:ext cx="446532" cy="82810"/>
            <a:chOff x="0" y="0"/>
            <a:chExt cx="595376" cy="11041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95376" cy="110363"/>
            </a:xfrm>
            <a:custGeom>
              <a:avLst/>
              <a:gdLst/>
              <a:ahLst/>
              <a:cxnLst/>
              <a:rect r="r" b="b" t="t" l="l"/>
              <a:pathLst>
                <a:path h="110363" w="595376">
                  <a:moveTo>
                    <a:pt x="0" y="0"/>
                  </a:moveTo>
                  <a:lnTo>
                    <a:pt x="595376" y="0"/>
                  </a:lnTo>
                  <a:lnTo>
                    <a:pt x="595376" y="110363"/>
                  </a:lnTo>
                  <a:lnTo>
                    <a:pt x="0" y="110363"/>
                  </a:lnTo>
                  <a:close/>
                </a:path>
              </a:pathLst>
            </a:custGeom>
            <a:solidFill>
              <a:srgbClr val="E8A33B"/>
            </a:solidFill>
          </p:spPr>
        </p:sp>
      </p:grpSp>
      <p:sp>
        <p:nvSpPr>
          <p:cNvPr name="TextBox 138" id="138"/>
          <p:cNvSpPr txBox="true"/>
          <p:nvPr/>
        </p:nvSpPr>
        <p:spPr>
          <a:xfrm rot="0">
            <a:off x="14369434" y="4197467"/>
            <a:ext cx="313811" cy="140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8"/>
              </a:lnSpc>
            </a:pPr>
            <a:r>
              <a:rPr lang="en-US" sz="815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64%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2488608" y="4479560"/>
            <a:ext cx="1173366" cy="13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"/>
              </a:lnSpc>
            </a:pPr>
            <a:r>
              <a:rPr lang="en-US" sz="774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ไขมันพอกตับ (NAFLD)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13668708" y="4502277"/>
            <a:ext cx="697697" cy="82810"/>
            <a:chOff x="0" y="0"/>
            <a:chExt cx="930262" cy="11041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930275" cy="110363"/>
            </a:xfrm>
            <a:custGeom>
              <a:avLst/>
              <a:gdLst/>
              <a:ahLst/>
              <a:cxnLst/>
              <a:rect r="r" b="b" t="t" l="l"/>
              <a:pathLst>
                <a:path h="110363" w="930275">
                  <a:moveTo>
                    <a:pt x="0" y="55245"/>
                  </a:moveTo>
                  <a:cubicBezTo>
                    <a:pt x="0" y="24765"/>
                    <a:pt x="24130" y="0"/>
                    <a:pt x="53975" y="0"/>
                  </a:cubicBezTo>
                  <a:lnTo>
                    <a:pt x="876300" y="0"/>
                  </a:lnTo>
                  <a:cubicBezTo>
                    <a:pt x="906145" y="0"/>
                    <a:pt x="930275" y="24765"/>
                    <a:pt x="930275" y="55245"/>
                  </a:cubicBezTo>
                  <a:cubicBezTo>
                    <a:pt x="930275" y="85725"/>
                    <a:pt x="906145" y="110363"/>
                    <a:pt x="876300" y="110363"/>
                  </a:cubicBezTo>
                  <a:lnTo>
                    <a:pt x="53975" y="110363"/>
                  </a:lnTo>
                  <a:cubicBezTo>
                    <a:pt x="24130" y="110363"/>
                    <a:pt x="0" y="85725"/>
                    <a:pt x="0" y="55245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3668708" y="4502277"/>
            <a:ext cx="404670" cy="82810"/>
            <a:chOff x="0" y="0"/>
            <a:chExt cx="539560" cy="110414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539496" cy="110363"/>
            </a:xfrm>
            <a:custGeom>
              <a:avLst/>
              <a:gdLst/>
              <a:ahLst/>
              <a:cxnLst/>
              <a:rect r="r" b="b" t="t" l="l"/>
              <a:pathLst>
                <a:path h="110363" w="539496">
                  <a:moveTo>
                    <a:pt x="0" y="0"/>
                  </a:moveTo>
                  <a:lnTo>
                    <a:pt x="539496" y="0"/>
                  </a:lnTo>
                  <a:lnTo>
                    <a:pt x="539496" y="110363"/>
                  </a:lnTo>
                  <a:lnTo>
                    <a:pt x="0" y="110363"/>
                  </a:lnTo>
                  <a:close/>
                </a:path>
              </a:pathLst>
            </a:custGeom>
            <a:solidFill>
              <a:srgbClr val="E8C93B"/>
            </a:solidFill>
          </p:spPr>
        </p:sp>
      </p:grpSp>
      <p:sp>
        <p:nvSpPr>
          <p:cNvPr name="TextBox 144" id="144"/>
          <p:cNvSpPr txBox="true"/>
          <p:nvPr/>
        </p:nvSpPr>
        <p:spPr>
          <a:xfrm rot="0">
            <a:off x="14369434" y="4495095"/>
            <a:ext cx="313811" cy="140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8"/>
              </a:lnSpc>
            </a:pPr>
            <a:r>
              <a:rPr lang="en-US" sz="815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58%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2468939" y="4736211"/>
            <a:ext cx="1173366" cy="13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"/>
              </a:lnSpc>
            </a:pPr>
            <a:r>
              <a:rPr lang="en-US" sz="774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โรคไตเรื้อรัง (CKD)</a:t>
            </a:r>
          </a:p>
        </p:txBody>
      </p:sp>
      <p:grpSp>
        <p:nvGrpSpPr>
          <p:cNvPr name="Group 146" id="146"/>
          <p:cNvGrpSpPr/>
          <p:nvPr/>
        </p:nvGrpSpPr>
        <p:grpSpPr>
          <a:xfrm rot="0">
            <a:off x="13649030" y="4758928"/>
            <a:ext cx="697697" cy="82810"/>
            <a:chOff x="0" y="0"/>
            <a:chExt cx="930262" cy="11041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930275" cy="110363"/>
            </a:xfrm>
            <a:custGeom>
              <a:avLst/>
              <a:gdLst/>
              <a:ahLst/>
              <a:cxnLst/>
              <a:rect r="r" b="b" t="t" l="l"/>
              <a:pathLst>
                <a:path h="110363" w="930275">
                  <a:moveTo>
                    <a:pt x="0" y="55245"/>
                  </a:moveTo>
                  <a:cubicBezTo>
                    <a:pt x="0" y="24765"/>
                    <a:pt x="24130" y="0"/>
                    <a:pt x="53975" y="0"/>
                  </a:cubicBezTo>
                  <a:lnTo>
                    <a:pt x="876300" y="0"/>
                  </a:lnTo>
                  <a:cubicBezTo>
                    <a:pt x="906145" y="0"/>
                    <a:pt x="930275" y="24765"/>
                    <a:pt x="930275" y="55245"/>
                  </a:cubicBezTo>
                  <a:cubicBezTo>
                    <a:pt x="930275" y="85725"/>
                    <a:pt x="906145" y="110363"/>
                    <a:pt x="876300" y="110363"/>
                  </a:cubicBezTo>
                  <a:lnTo>
                    <a:pt x="53975" y="110363"/>
                  </a:lnTo>
                  <a:cubicBezTo>
                    <a:pt x="24130" y="110363"/>
                    <a:pt x="0" y="85725"/>
                    <a:pt x="0" y="55245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3649030" y="4758928"/>
            <a:ext cx="286055" cy="82810"/>
            <a:chOff x="0" y="0"/>
            <a:chExt cx="381406" cy="110414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81381" cy="110363"/>
            </a:xfrm>
            <a:custGeom>
              <a:avLst/>
              <a:gdLst/>
              <a:ahLst/>
              <a:cxnLst/>
              <a:rect r="r" b="b" t="t" l="l"/>
              <a:pathLst>
                <a:path h="110363" w="381381">
                  <a:moveTo>
                    <a:pt x="0" y="0"/>
                  </a:moveTo>
                  <a:lnTo>
                    <a:pt x="381381" y="0"/>
                  </a:lnTo>
                  <a:lnTo>
                    <a:pt x="381381" y="110363"/>
                  </a:lnTo>
                  <a:lnTo>
                    <a:pt x="0" y="110363"/>
                  </a:lnTo>
                  <a:close/>
                </a:path>
              </a:pathLst>
            </a:custGeom>
            <a:solidFill>
              <a:srgbClr val="3BA88A"/>
            </a:solidFill>
          </p:spPr>
        </p:sp>
      </p:grpSp>
      <p:sp>
        <p:nvSpPr>
          <p:cNvPr name="TextBox 150" id="150"/>
          <p:cNvSpPr txBox="true"/>
          <p:nvPr/>
        </p:nvSpPr>
        <p:spPr>
          <a:xfrm rot="0">
            <a:off x="14369434" y="4717656"/>
            <a:ext cx="313811" cy="140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8"/>
              </a:lnSpc>
            </a:pPr>
            <a:r>
              <a:rPr lang="en-US" sz="815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41%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2438993" y="4981966"/>
            <a:ext cx="1173366" cy="246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"/>
              </a:lnSpc>
            </a:pPr>
            <a:r>
              <a:rPr lang="en-US" sz="774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กลุ่มอาการเมตาบอลิก (MetS)</a:t>
            </a:r>
          </a:p>
        </p:txBody>
      </p:sp>
      <p:grpSp>
        <p:nvGrpSpPr>
          <p:cNvPr name="Group 152" id="152"/>
          <p:cNvGrpSpPr/>
          <p:nvPr/>
        </p:nvGrpSpPr>
        <p:grpSpPr>
          <a:xfrm rot="0">
            <a:off x="13668708" y="5022466"/>
            <a:ext cx="697697" cy="82810"/>
            <a:chOff x="0" y="0"/>
            <a:chExt cx="930262" cy="110414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930275" cy="110363"/>
            </a:xfrm>
            <a:custGeom>
              <a:avLst/>
              <a:gdLst/>
              <a:ahLst/>
              <a:cxnLst/>
              <a:rect r="r" b="b" t="t" l="l"/>
              <a:pathLst>
                <a:path h="110363" w="930275">
                  <a:moveTo>
                    <a:pt x="0" y="55245"/>
                  </a:moveTo>
                  <a:cubicBezTo>
                    <a:pt x="0" y="24765"/>
                    <a:pt x="24130" y="0"/>
                    <a:pt x="53975" y="0"/>
                  </a:cubicBezTo>
                  <a:lnTo>
                    <a:pt x="876300" y="0"/>
                  </a:lnTo>
                  <a:cubicBezTo>
                    <a:pt x="906145" y="0"/>
                    <a:pt x="930275" y="24765"/>
                    <a:pt x="930275" y="55245"/>
                  </a:cubicBezTo>
                  <a:cubicBezTo>
                    <a:pt x="930275" y="85725"/>
                    <a:pt x="906145" y="110363"/>
                    <a:pt x="876300" y="110363"/>
                  </a:cubicBezTo>
                  <a:lnTo>
                    <a:pt x="53975" y="110363"/>
                  </a:lnTo>
                  <a:cubicBezTo>
                    <a:pt x="24130" y="110363"/>
                    <a:pt x="0" y="85725"/>
                    <a:pt x="0" y="55245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3668708" y="5022466"/>
            <a:ext cx="467458" cy="82810"/>
            <a:chOff x="0" y="0"/>
            <a:chExt cx="623278" cy="110414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623316" cy="110363"/>
            </a:xfrm>
            <a:custGeom>
              <a:avLst/>
              <a:gdLst/>
              <a:ahLst/>
              <a:cxnLst/>
              <a:rect r="r" b="b" t="t" l="l"/>
              <a:pathLst>
                <a:path h="110363" w="623316">
                  <a:moveTo>
                    <a:pt x="0" y="0"/>
                  </a:moveTo>
                  <a:lnTo>
                    <a:pt x="623316" y="0"/>
                  </a:lnTo>
                  <a:lnTo>
                    <a:pt x="623316" y="110363"/>
                  </a:lnTo>
                  <a:lnTo>
                    <a:pt x="0" y="110363"/>
                  </a:lnTo>
                  <a:close/>
                </a:path>
              </a:pathLst>
            </a:custGeom>
            <a:solidFill>
              <a:srgbClr val="D6435A"/>
            </a:solidFill>
          </p:spPr>
        </p:sp>
      </p:grpSp>
      <p:sp>
        <p:nvSpPr>
          <p:cNvPr name="TextBox 156" id="156"/>
          <p:cNvSpPr txBox="true"/>
          <p:nvPr/>
        </p:nvSpPr>
        <p:spPr>
          <a:xfrm rot="0">
            <a:off x="14369434" y="5015274"/>
            <a:ext cx="313811" cy="140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8"/>
              </a:lnSpc>
            </a:pPr>
            <a:r>
              <a:rPr lang="en-US" sz="815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67%</a:t>
            </a:r>
          </a:p>
        </p:txBody>
      </p:sp>
      <p:sp>
        <p:nvSpPr>
          <p:cNvPr name="Freeform 157" id="157"/>
          <p:cNvSpPr/>
          <p:nvPr/>
        </p:nvSpPr>
        <p:spPr>
          <a:xfrm flipH="false" flipV="false" rot="0">
            <a:off x="15135339" y="2008661"/>
            <a:ext cx="2390270" cy="5924693"/>
          </a:xfrm>
          <a:custGeom>
            <a:avLst/>
            <a:gdLst/>
            <a:ahLst/>
            <a:cxnLst/>
            <a:rect r="r" b="b" t="t" l="l"/>
            <a:pathLst>
              <a:path h="5924693" w="2390270">
                <a:moveTo>
                  <a:pt x="0" y="0"/>
                </a:moveTo>
                <a:lnTo>
                  <a:pt x="2390270" y="0"/>
                </a:lnTo>
                <a:lnTo>
                  <a:pt x="2390270" y="5924692"/>
                </a:lnTo>
                <a:lnTo>
                  <a:pt x="0" y="5924692"/>
                </a:lnTo>
                <a:lnTo>
                  <a:pt x="0" y="0"/>
                </a:lnTo>
                <a:close/>
              </a:path>
            </a:pathLst>
          </a:custGeom>
          <a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 l="0" t="-3122" r="0" b="-3122"/>
            </a:stretch>
          </a:blipFill>
        </p:spPr>
      </p:sp>
      <p:sp>
        <p:nvSpPr>
          <p:cNvPr name="Freeform 158" id="158"/>
          <p:cNvSpPr/>
          <p:nvPr/>
        </p:nvSpPr>
        <p:spPr>
          <a:xfrm flipH="false" flipV="false" rot="0">
            <a:off x="15246772" y="2143068"/>
            <a:ext cx="2167404" cy="586788"/>
          </a:xfrm>
          <a:custGeom>
            <a:avLst/>
            <a:gdLst/>
            <a:ahLst/>
            <a:cxnLst/>
            <a:rect r="r" b="b" t="t" l="l"/>
            <a:pathLst>
              <a:path h="586788" w="2167404">
                <a:moveTo>
                  <a:pt x="0" y="0"/>
                </a:moveTo>
                <a:lnTo>
                  <a:pt x="2167404" y="0"/>
                </a:lnTo>
                <a:lnTo>
                  <a:pt x="2167404" y="586787"/>
                </a:lnTo>
                <a:lnTo>
                  <a:pt x="0" y="586787"/>
                </a:lnTo>
                <a:lnTo>
                  <a:pt x="0" y="0"/>
                </a:lnTo>
                <a:close/>
              </a:path>
            </a:pathLst>
          </a:custGeom>
          <a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9" id="159"/>
          <p:cNvGrpSpPr/>
          <p:nvPr/>
        </p:nvGrpSpPr>
        <p:grpSpPr>
          <a:xfrm rot="0">
            <a:off x="15388142" y="2284952"/>
            <a:ext cx="328717" cy="328717"/>
            <a:chOff x="0" y="0"/>
            <a:chExt cx="438290" cy="43829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438277" cy="438277"/>
            </a:xfrm>
            <a:custGeom>
              <a:avLst/>
              <a:gdLst/>
              <a:ahLst/>
              <a:cxnLst/>
              <a:rect r="r" b="b" t="t" l="l"/>
              <a:pathLst>
                <a:path h="438277" w="438277">
                  <a:moveTo>
                    <a:pt x="0" y="102235"/>
                  </a:moveTo>
                  <a:cubicBezTo>
                    <a:pt x="0" y="45720"/>
                    <a:pt x="45720" y="0"/>
                    <a:pt x="102235" y="0"/>
                  </a:cubicBezTo>
                  <a:lnTo>
                    <a:pt x="336042" y="0"/>
                  </a:lnTo>
                  <a:cubicBezTo>
                    <a:pt x="392557" y="0"/>
                    <a:pt x="438277" y="45720"/>
                    <a:pt x="438277" y="102235"/>
                  </a:cubicBezTo>
                  <a:lnTo>
                    <a:pt x="438277" y="336042"/>
                  </a:lnTo>
                  <a:cubicBezTo>
                    <a:pt x="438277" y="392557"/>
                    <a:pt x="392557" y="438277"/>
                    <a:pt x="336042" y="438277"/>
                  </a:cubicBezTo>
                  <a:lnTo>
                    <a:pt x="102235" y="438277"/>
                  </a:lnTo>
                  <a:cubicBezTo>
                    <a:pt x="45720" y="438277"/>
                    <a:pt x="0" y="392557"/>
                    <a:pt x="0" y="336042"/>
                  </a:cubicBezTo>
                  <a:close/>
                </a:path>
              </a:pathLst>
            </a:custGeom>
            <a:solidFill>
              <a:srgbClr val="6D3FB0"/>
            </a:solidFill>
          </p:spPr>
        </p:sp>
      </p:grpSp>
      <p:sp>
        <p:nvSpPr>
          <p:cNvPr name="Freeform 161" id="161"/>
          <p:cNvSpPr/>
          <p:nvPr/>
        </p:nvSpPr>
        <p:spPr>
          <a:xfrm flipH="false" flipV="false" rot="0">
            <a:off x="15464838" y="2361657"/>
            <a:ext cx="175317" cy="175317"/>
          </a:xfrm>
          <a:custGeom>
            <a:avLst/>
            <a:gdLst/>
            <a:ahLst/>
            <a:cxnLst/>
            <a:rect r="r" b="b" t="t" l="l"/>
            <a:pathLst>
              <a:path h="175317" w="175317">
                <a:moveTo>
                  <a:pt x="0" y="0"/>
                </a:moveTo>
                <a:lnTo>
                  <a:pt x="175317" y="0"/>
                </a:lnTo>
                <a:lnTo>
                  <a:pt x="175317" y="175317"/>
                </a:lnTo>
                <a:lnTo>
                  <a:pt x="0" y="175317"/>
                </a:lnTo>
                <a:lnTo>
                  <a:pt x="0" y="0"/>
                </a:lnTo>
                <a:close/>
              </a:path>
            </a:pathLst>
          </a:custGeom>
          <a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2" id="162"/>
          <p:cNvSpPr txBox="true"/>
          <p:nvPr/>
        </p:nvSpPr>
        <p:spPr>
          <a:xfrm rot="0">
            <a:off x="15833741" y="2280323"/>
            <a:ext cx="1359246" cy="18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035" b="true">
                <a:solidFill>
                  <a:srgbClr val="6D3FB0"/>
                </a:solidFill>
                <a:latin typeface="Arial Bold"/>
                <a:ea typeface="Arial Bold"/>
                <a:cs typeface="Arial Bold"/>
                <a:sym typeface="Arial Bold"/>
              </a:rPr>
              <a:t>Structured Risk Report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15833741" y="2467851"/>
            <a:ext cx="1359246" cy="160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"/>
              </a:lnSpc>
            </a:pPr>
            <a:r>
              <a:rPr lang="en-US" sz="819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(JSON / PDF)</a:t>
            </a:r>
          </a:p>
        </p:txBody>
      </p:sp>
      <p:grpSp>
        <p:nvGrpSpPr>
          <p:cNvPr name="Group 164" id="164"/>
          <p:cNvGrpSpPr/>
          <p:nvPr/>
        </p:nvGrpSpPr>
        <p:grpSpPr>
          <a:xfrm rot="0">
            <a:off x="15200414" y="2865434"/>
            <a:ext cx="2260111" cy="4921034"/>
            <a:chOff x="0" y="0"/>
            <a:chExt cx="3013481" cy="6561379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3013456" cy="6561328"/>
            </a:xfrm>
            <a:custGeom>
              <a:avLst/>
              <a:gdLst/>
              <a:ahLst/>
              <a:cxnLst/>
              <a:rect r="r" b="b" t="t" l="l"/>
              <a:pathLst>
                <a:path h="6561328" w="3013456">
                  <a:moveTo>
                    <a:pt x="0" y="0"/>
                  </a:moveTo>
                  <a:lnTo>
                    <a:pt x="3013456" y="0"/>
                  </a:lnTo>
                  <a:lnTo>
                    <a:pt x="3013456" y="6561328"/>
                  </a:lnTo>
                  <a:lnTo>
                    <a:pt x="0" y="6561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5"/>
              <a:stretch>
                <a:fillRect l="-2297" t="0" r="-2298" b="0"/>
              </a:stretch>
            </a:blipFill>
          </p:spPr>
        </p:sp>
      </p:grpSp>
      <p:sp>
        <p:nvSpPr>
          <p:cNvPr name="Freeform 166" id="166"/>
          <p:cNvSpPr/>
          <p:nvPr/>
        </p:nvSpPr>
        <p:spPr>
          <a:xfrm flipH="false" flipV="false" rot="0">
            <a:off x="4097731" y="8016450"/>
            <a:ext cx="1530067" cy="325355"/>
          </a:xfrm>
          <a:custGeom>
            <a:avLst/>
            <a:gdLst/>
            <a:ahLst/>
            <a:cxnLst/>
            <a:rect r="r" b="b" t="t" l="l"/>
            <a:pathLst>
              <a:path h="325355" w="1530067">
                <a:moveTo>
                  <a:pt x="0" y="0"/>
                </a:moveTo>
                <a:lnTo>
                  <a:pt x="1530068" y="0"/>
                </a:lnTo>
                <a:lnTo>
                  <a:pt x="1530068" y="325354"/>
                </a:lnTo>
                <a:lnTo>
                  <a:pt x="0" y="325354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7" id="167"/>
          <p:cNvSpPr/>
          <p:nvPr/>
        </p:nvSpPr>
        <p:spPr>
          <a:xfrm flipH="false" flipV="false" rot="0">
            <a:off x="6915769" y="8004962"/>
            <a:ext cx="1023023" cy="367370"/>
          </a:xfrm>
          <a:custGeom>
            <a:avLst/>
            <a:gdLst/>
            <a:ahLst/>
            <a:cxnLst/>
            <a:rect r="r" b="b" t="t" l="l"/>
            <a:pathLst>
              <a:path h="367370" w="1023023">
                <a:moveTo>
                  <a:pt x="0" y="0"/>
                </a:moveTo>
                <a:lnTo>
                  <a:pt x="1023023" y="0"/>
                </a:lnTo>
                <a:lnTo>
                  <a:pt x="1023023" y="367370"/>
                </a:lnTo>
                <a:lnTo>
                  <a:pt x="0" y="367370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8" id="168"/>
          <p:cNvSpPr/>
          <p:nvPr/>
        </p:nvSpPr>
        <p:spPr>
          <a:xfrm flipH="false" flipV="false" rot="0">
            <a:off x="4861836" y="7050138"/>
            <a:ext cx="761143" cy="527371"/>
          </a:xfrm>
          <a:custGeom>
            <a:avLst/>
            <a:gdLst/>
            <a:ahLst/>
            <a:cxnLst/>
            <a:rect r="r" b="b" t="t" l="l"/>
            <a:pathLst>
              <a:path h="527371" w="761143">
                <a:moveTo>
                  <a:pt x="0" y="0"/>
                </a:moveTo>
                <a:lnTo>
                  <a:pt x="761143" y="0"/>
                </a:lnTo>
                <a:lnTo>
                  <a:pt x="761143" y="527371"/>
                </a:lnTo>
                <a:lnTo>
                  <a:pt x="0" y="527371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9" id="169"/>
          <p:cNvSpPr/>
          <p:nvPr/>
        </p:nvSpPr>
        <p:spPr>
          <a:xfrm flipH="false" flipV="false" rot="0">
            <a:off x="6581746" y="6781962"/>
            <a:ext cx="831799" cy="795538"/>
          </a:xfrm>
          <a:custGeom>
            <a:avLst/>
            <a:gdLst/>
            <a:ahLst/>
            <a:cxnLst/>
            <a:rect r="r" b="b" t="t" l="l"/>
            <a:pathLst>
              <a:path h="795538" w="831799">
                <a:moveTo>
                  <a:pt x="0" y="0"/>
                </a:moveTo>
                <a:lnTo>
                  <a:pt x="831800" y="0"/>
                </a:lnTo>
                <a:lnTo>
                  <a:pt x="831800" y="795537"/>
                </a:lnTo>
                <a:lnTo>
                  <a:pt x="0" y="795537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0" id="170"/>
          <p:cNvGrpSpPr/>
          <p:nvPr/>
        </p:nvGrpSpPr>
        <p:grpSpPr>
          <a:xfrm rot="0">
            <a:off x="7509958" y="5092465"/>
            <a:ext cx="822188" cy="454047"/>
            <a:chOff x="0" y="0"/>
            <a:chExt cx="1096251" cy="60539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096264" cy="605409"/>
            </a:xfrm>
            <a:custGeom>
              <a:avLst/>
              <a:gdLst/>
              <a:ahLst/>
              <a:cxnLst/>
              <a:rect r="r" b="b" t="t" l="l"/>
              <a:pathLst>
                <a:path h="605409" w="1096264">
                  <a:moveTo>
                    <a:pt x="0" y="605409"/>
                  </a:moveTo>
                  <a:lnTo>
                    <a:pt x="0" y="302641"/>
                  </a:lnTo>
                  <a:cubicBezTo>
                    <a:pt x="0" y="135509"/>
                    <a:pt x="128270" y="0"/>
                    <a:pt x="286512" y="0"/>
                  </a:cubicBezTo>
                  <a:lnTo>
                    <a:pt x="1096264" y="0"/>
                  </a:lnTo>
                </a:path>
              </a:pathLst>
            </a:custGeom>
            <a:blipFill>
              <a:blip r:embed="rId84">
                <a:alphaModFix amt="0"/>
              </a:blip>
              <a:stretch>
                <a:fillRect l="-20854" t="0" r="-20853" b="2"/>
              </a:stretch>
            </a:blipFill>
            <a:ln w="50800" cap="sq">
              <a:solidFill>
                <a:srgbClr val="004AAD"/>
              </a:solidFill>
              <a:prstDash val="solid"/>
              <a:miter/>
            </a:ln>
          </p:spPr>
        </p:sp>
      </p:grpSp>
      <p:sp>
        <p:nvSpPr>
          <p:cNvPr name="Freeform 172" id="172"/>
          <p:cNvSpPr/>
          <p:nvPr/>
        </p:nvSpPr>
        <p:spPr>
          <a:xfrm flipH="false" flipV="false" rot="0">
            <a:off x="8243373" y="4347839"/>
            <a:ext cx="572672" cy="627421"/>
          </a:xfrm>
          <a:custGeom>
            <a:avLst/>
            <a:gdLst/>
            <a:ahLst/>
            <a:cxnLst/>
            <a:rect r="r" b="b" t="t" l="l"/>
            <a:pathLst>
              <a:path h="627421" w="572672">
                <a:moveTo>
                  <a:pt x="0" y="0"/>
                </a:moveTo>
                <a:lnTo>
                  <a:pt x="572672" y="0"/>
                </a:lnTo>
                <a:lnTo>
                  <a:pt x="572672" y="627421"/>
                </a:lnTo>
                <a:lnTo>
                  <a:pt x="0" y="627421"/>
                </a:lnTo>
                <a:lnTo>
                  <a:pt x="0" y="0"/>
                </a:lnTo>
                <a:close/>
              </a:path>
            </a:pathLst>
          </a:custGeom>
          <a:blipFill>
            <a:blip r:embed="rId85">
              <a:extLst>
                <a:ext uri="{96DAC541-7B7A-43D3-8B79-37D633B846F1}">
                  <asvg:svgBlip xmlns:asvg="http://schemas.microsoft.com/office/drawing/2016/SVG/main" r:embed="rId8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3" id="173"/>
          <p:cNvSpPr/>
          <p:nvPr/>
        </p:nvSpPr>
        <p:spPr>
          <a:xfrm flipH="false" flipV="false" rot="0">
            <a:off x="6276546" y="2954064"/>
            <a:ext cx="1125103" cy="4623435"/>
          </a:xfrm>
          <a:custGeom>
            <a:avLst/>
            <a:gdLst/>
            <a:ahLst/>
            <a:cxnLst/>
            <a:rect r="r" b="b" t="t" l="l"/>
            <a:pathLst>
              <a:path h="4623435" w="1125103">
                <a:moveTo>
                  <a:pt x="0" y="0"/>
                </a:moveTo>
                <a:lnTo>
                  <a:pt x="1125103" y="0"/>
                </a:lnTo>
                <a:lnTo>
                  <a:pt x="1125103" y="4623435"/>
                </a:lnTo>
                <a:lnTo>
                  <a:pt x="0" y="4623435"/>
                </a:lnTo>
                <a:lnTo>
                  <a:pt x="0" y="0"/>
                </a:lnTo>
                <a:close/>
              </a:path>
            </a:pathLst>
          </a:custGeom>
          <a:blipFill>
            <a:blip r:embed="rId87">
              <a:extLst>
                <a:ext uri="{96DAC541-7B7A-43D3-8B79-37D633B846F1}">
                  <asvg:svgBlip xmlns:asvg="http://schemas.microsoft.com/office/drawing/2016/SVG/main" r:embed="rId8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4" id="174"/>
          <p:cNvSpPr/>
          <p:nvPr/>
        </p:nvSpPr>
        <p:spPr>
          <a:xfrm flipH="false" flipV="false" rot="0">
            <a:off x="7202786" y="5296605"/>
            <a:ext cx="1129360" cy="239582"/>
          </a:xfrm>
          <a:custGeom>
            <a:avLst/>
            <a:gdLst/>
            <a:ahLst/>
            <a:cxnLst/>
            <a:rect r="r" b="b" t="t" l="l"/>
            <a:pathLst>
              <a:path h="239582" w="1129360">
                <a:moveTo>
                  <a:pt x="0" y="0"/>
                </a:moveTo>
                <a:lnTo>
                  <a:pt x="1129360" y="0"/>
                </a:lnTo>
                <a:lnTo>
                  <a:pt x="1129360" y="239582"/>
                </a:lnTo>
                <a:lnTo>
                  <a:pt x="0" y="239582"/>
                </a:lnTo>
                <a:lnTo>
                  <a:pt x="0" y="0"/>
                </a:lnTo>
                <a:close/>
              </a:path>
            </a:pathLst>
          </a:custGeom>
          <a:blipFill>
            <a:blip r:embed="rId89">
              <a:extLst>
                <a:ext uri="{96DAC541-7B7A-43D3-8B79-37D633B846F1}">
                  <asvg:svgBlip xmlns:asvg="http://schemas.microsoft.com/office/drawing/2016/SVG/main" r:embed="rId9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5" id="175"/>
          <p:cNvSpPr/>
          <p:nvPr/>
        </p:nvSpPr>
        <p:spPr>
          <a:xfrm flipH="false" flipV="false" rot="0">
            <a:off x="6465913" y="6781962"/>
            <a:ext cx="637527" cy="795538"/>
          </a:xfrm>
          <a:custGeom>
            <a:avLst/>
            <a:gdLst/>
            <a:ahLst/>
            <a:cxnLst/>
            <a:rect r="r" b="b" t="t" l="l"/>
            <a:pathLst>
              <a:path h="795538" w="637527">
                <a:moveTo>
                  <a:pt x="0" y="0"/>
                </a:moveTo>
                <a:lnTo>
                  <a:pt x="637527" y="0"/>
                </a:lnTo>
                <a:lnTo>
                  <a:pt x="637527" y="795537"/>
                </a:lnTo>
                <a:lnTo>
                  <a:pt x="0" y="795537"/>
                </a:lnTo>
                <a:lnTo>
                  <a:pt x="0" y="0"/>
                </a:lnTo>
                <a:close/>
              </a:path>
            </a:pathLst>
          </a:custGeom>
          <a:blipFill>
            <a:blip r:embed="rId91">
              <a:extLst>
                <a:ext uri="{96DAC541-7B7A-43D3-8B79-37D633B846F1}">
                  <asvg:svgBlip xmlns:asvg="http://schemas.microsoft.com/office/drawing/2016/SVG/main" r:embed="rId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6" id="176"/>
          <p:cNvSpPr/>
          <p:nvPr/>
        </p:nvSpPr>
        <p:spPr>
          <a:xfrm flipH="false" flipV="false" rot="0">
            <a:off x="8608133" y="6243771"/>
            <a:ext cx="417005" cy="588997"/>
          </a:xfrm>
          <a:custGeom>
            <a:avLst/>
            <a:gdLst/>
            <a:ahLst/>
            <a:cxnLst/>
            <a:rect r="r" b="b" t="t" l="l"/>
            <a:pathLst>
              <a:path h="588997" w="417005">
                <a:moveTo>
                  <a:pt x="0" y="0"/>
                </a:moveTo>
                <a:lnTo>
                  <a:pt x="417005" y="0"/>
                </a:lnTo>
                <a:lnTo>
                  <a:pt x="417005" y="588997"/>
                </a:lnTo>
                <a:lnTo>
                  <a:pt x="0" y="588997"/>
                </a:lnTo>
                <a:lnTo>
                  <a:pt x="0" y="0"/>
                </a:lnTo>
                <a:close/>
              </a:path>
            </a:pathLst>
          </a:custGeom>
          <a:blipFill>
            <a:blip r:embed="rId93">
              <a:extLst>
                <a:ext uri="{96DAC541-7B7A-43D3-8B79-37D633B846F1}">
                  <asvg:svgBlip xmlns:asvg="http://schemas.microsoft.com/office/drawing/2016/SVG/main" r:embed="rId9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7" id="177"/>
          <p:cNvSpPr/>
          <p:nvPr/>
        </p:nvSpPr>
        <p:spPr>
          <a:xfrm flipH="false" flipV="false" rot="0">
            <a:off x="9297819" y="6243771"/>
            <a:ext cx="320907" cy="588997"/>
          </a:xfrm>
          <a:custGeom>
            <a:avLst/>
            <a:gdLst/>
            <a:ahLst/>
            <a:cxnLst/>
            <a:rect r="r" b="b" t="t" l="l"/>
            <a:pathLst>
              <a:path h="588997" w="320907">
                <a:moveTo>
                  <a:pt x="0" y="0"/>
                </a:moveTo>
                <a:lnTo>
                  <a:pt x="320907" y="0"/>
                </a:lnTo>
                <a:lnTo>
                  <a:pt x="320907" y="588997"/>
                </a:lnTo>
                <a:lnTo>
                  <a:pt x="0" y="588997"/>
                </a:lnTo>
                <a:lnTo>
                  <a:pt x="0" y="0"/>
                </a:lnTo>
                <a:close/>
              </a:path>
            </a:pathLst>
          </a:custGeom>
          <a:blipFill>
            <a:blip r:embed="rId95">
              <a:extLst>
                <a:ext uri="{96DAC541-7B7A-43D3-8B79-37D633B846F1}">
                  <asvg:svgBlip xmlns:asvg="http://schemas.microsoft.com/office/drawing/2016/SVG/main" r:embed="rId9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8" id="178"/>
          <p:cNvSpPr/>
          <p:nvPr/>
        </p:nvSpPr>
        <p:spPr>
          <a:xfrm flipH="false" flipV="false" rot="0">
            <a:off x="9640367" y="6243771"/>
            <a:ext cx="552002" cy="588997"/>
          </a:xfrm>
          <a:custGeom>
            <a:avLst/>
            <a:gdLst/>
            <a:ahLst/>
            <a:cxnLst/>
            <a:rect r="r" b="b" t="t" l="l"/>
            <a:pathLst>
              <a:path h="588997" w="552002">
                <a:moveTo>
                  <a:pt x="0" y="0"/>
                </a:moveTo>
                <a:lnTo>
                  <a:pt x="552002" y="0"/>
                </a:lnTo>
                <a:lnTo>
                  <a:pt x="552002" y="588997"/>
                </a:lnTo>
                <a:lnTo>
                  <a:pt x="0" y="588997"/>
                </a:lnTo>
                <a:lnTo>
                  <a:pt x="0" y="0"/>
                </a:lnTo>
                <a:close/>
              </a:path>
            </a:pathLst>
          </a:custGeom>
          <a:blipFill>
            <a:blip r:embed="rId97">
              <a:extLst>
                <a:ext uri="{96DAC541-7B7A-43D3-8B79-37D633B846F1}">
                  <asvg:svgBlip xmlns:asvg="http://schemas.microsoft.com/office/drawing/2016/SVG/main" r:embed="rId9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9" id="179"/>
          <p:cNvGrpSpPr/>
          <p:nvPr/>
        </p:nvGrpSpPr>
        <p:grpSpPr>
          <a:xfrm rot="0">
            <a:off x="8508930" y="2986402"/>
            <a:ext cx="1677095" cy="1092965"/>
            <a:chOff x="0" y="0"/>
            <a:chExt cx="2236127" cy="1457287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236089" cy="1457325"/>
            </a:xfrm>
            <a:custGeom>
              <a:avLst/>
              <a:gdLst/>
              <a:ahLst/>
              <a:cxnLst/>
              <a:rect r="r" b="b" t="t" l="l"/>
              <a:pathLst>
                <a:path h="1457325" w="2236089">
                  <a:moveTo>
                    <a:pt x="0" y="0"/>
                  </a:moveTo>
                  <a:lnTo>
                    <a:pt x="2236089" y="0"/>
                  </a:lnTo>
                  <a:lnTo>
                    <a:pt x="2236089" y="1457325"/>
                  </a:lnTo>
                  <a:lnTo>
                    <a:pt x="0" y="1457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9"/>
              <a:stretch>
                <a:fillRect l="0" t="-27" r="-1" b="-24"/>
              </a:stretch>
            </a:blipFill>
          </p:spPr>
        </p:sp>
      </p:grpSp>
      <p:sp>
        <p:nvSpPr>
          <p:cNvPr name="Freeform 181" id="181"/>
          <p:cNvSpPr/>
          <p:nvPr/>
        </p:nvSpPr>
        <p:spPr>
          <a:xfrm flipH="false" flipV="false" rot="0">
            <a:off x="8243373" y="4209459"/>
            <a:ext cx="797643" cy="765791"/>
          </a:xfrm>
          <a:custGeom>
            <a:avLst/>
            <a:gdLst/>
            <a:ahLst/>
            <a:cxnLst/>
            <a:rect r="r" b="b" t="t" l="l"/>
            <a:pathLst>
              <a:path h="765791" w="797643">
                <a:moveTo>
                  <a:pt x="0" y="0"/>
                </a:moveTo>
                <a:lnTo>
                  <a:pt x="797643" y="0"/>
                </a:lnTo>
                <a:lnTo>
                  <a:pt x="797643" y="765791"/>
                </a:lnTo>
                <a:lnTo>
                  <a:pt x="0" y="765791"/>
                </a:lnTo>
                <a:lnTo>
                  <a:pt x="0" y="0"/>
                </a:lnTo>
                <a:close/>
              </a:path>
            </a:pathLst>
          </a:custGeom>
          <a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2" id="182"/>
          <p:cNvSpPr/>
          <p:nvPr/>
        </p:nvSpPr>
        <p:spPr>
          <a:xfrm flipH="false" flipV="false" rot="0">
            <a:off x="9925612" y="4441041"/>
            <a:ext cx="454466" cy="534210"/>
          </a:xfrm>
          <a:custGeom>
            <a:avLst/>
            <a:gdLst/>
            <a:ahLst/>
            <a:cxnLst/>
            <a:rect r="r" b="b" t="t" l="l"/>
            <a:pathLst>
              <a:path h="534210" w="454466">
                <a:moveTo>
                  <a:pt x="0" y="0"/>
                </a:moveTo>
                <a:lnTo>
                  <a:pt x="454466" y="0"/>
                </a:lnTo>
                <a:lnTo>
                  <a:pt x="454466" y="534209"/>
                </a:lnTo>
                <a:lnTo>
                  <a:pt x="0" y="534209"/>
                </a:lnTo>
                <a:lnTo>
                  <a:pt x="0" y="0"/>
                </a:lnTo>
                <a:close/>
              </a:path>
            </a:pathLst>
          </a:custGeom>
          <a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3" id="183"/>
          <p:cNvGrpSpPr/>
          <p:nvPr/>
        </p:nvGrpSpPr>
        <p:grpSpPr>
          <a:xfrm rot="0">
            <a:off x="9519275" y="4714351"/>
            <a:ext cx="860803" cy="260909"/>
            <a:chOff x="0" y="0"/>
            <a:chExt cx="1147737" cy="347878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1147699" cy="347980"/>
            </a:xfrm>
            <a:custGeom>
              <a:avLst/>
              <a:gdLst/>
              <a:ahLst/>
              <a:cxnLst/>
              <a:rect r="r" b="b" t="t" l="l"/>
              <a:pathLst>
                <a:path h="347980" w="1147699">
                  <a:moveTo>
                    <a:pt x="1147699" y="0"/>
                  </a:moveTo>
                  <a:lnTo>
                    <a:pt x="148844" y="0"/>
                  </a:lnTo>
                  <a:cubicBezTo>
                    <a:pt x="66675" y="0"/>
                    <a:pt x="0" y="77851"/>
                    <a:pt x="0" y="173990"/>
                  </a:cubicBezTo>
                  <a:lnTo>
                    <a:pt x="0" y="347980"/>
                  </a:lnTo>
                </a:path>
              </a:pathLst>
            </a:custGeom>
            <a:blipFill>
              <a:blip r:embed="rId84">
                <a:alphaModFix amt="0"/>
              </a:blip>
              <a:stretch>
                <a:fillRect l="0" t="-14281" r="-3" b="-14252"/>
              </a:stretch>
            </a:blipFill>
            <a:ln w="50800" cap="sq">
              <a:solidFill>
                <a:srgbClr val="004AAD"/>
              </a:solidFill>
              <a:prstDash val="solid"/>
              <a:miter/>
            </a:ln>
          </p:spPr>
        </p:sp>
      </p:grpSp>
      <p:grpSp>
        <p:nvGrpSpPr>
          <p:cNvPr name="Group 185" id="185"/>
          <p:cNvGrpSpPr/>
          <p:nvPr/>
        </p:nvGrpSpPr>
        <p:grpSpPr>
          <a:xfrm rot="0">
            <a:off x="10344560" y="2920222"/>
            <a:ext cx="1561748" cy="878481"/>
            <a:chOff x="0" y="0"/>
            <a:chExt cx="2082330" cy="117130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082292" cy="1171321"/>
            </a:xfrm>
            <a:custGeom>
              <a:avLst/>
              <a:gdLst/>
              <a:ahLst/>
              <a:cxnLst/>
              <a:rect r="r" b="b" t="t" l="l"/>
              <a:pathLst>
                <a:path h="1171321" w="2082292">
                  <a:moveTo>
                    <a:pt x="0" y="0"/>
                  </a:moveTo>
                  <a:lnTo>
                    <a:pt x="2082292" y="0"/>
                  </a:lnTo>
                  <a:lnTo>
                    <a:pt x="2082292" y="1171321"/>
                  </a:lnTo>
                  <a:lnTo>
                    <a:pt x="0" y="1171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4"/>
              <a:stretch>
                <a:fillRect l="0" t="0" r="-1" b="1"/>
              </a:stretch>
            </a:blip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7538752" y="2904258"/>
            <a:ext cx="477355" cy="477355"/>
            <a:chOff x="0" y="0"/>
            <a:chExt cx="636473" cy="636473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636524" cy="636524"/>
            </a:xfrm>
            <a:custGeom>
              <a:avLst/>
              <a:gdLst/>
              <a:ahLst/>
              <a:cxnLst/>
              <a:rect r="r" b="b" t="t" l="l"/>
              <a:pathLst>
                <a:path h="636524" w="636524">
                  <a:moveTo>
                    <a:pt x="0" y="0"/>
                  </a:moveTo>
                  <a:lnTo>
                    <a:pt x="636524" y="0"/>
                  </a:lnTo>
                  <a:lnTo>
                    <a:pt x="636524" y="636524"/>
                  </a:lnTo>
                  <a:lnTo>
                    <a:pt x="0" y="63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5"/>
              <a:stretch>
                <a:fillRect l="0" t="0" r="7" b="7"/>
              </a:stretch>
            </a:blipFill>
          </p:spPr>
        </p:sp>
      </p:grpSp>
      <p:grpSp>
        <p:nvGrpSpPr>
          <p:cNvPr name="Group 189" id="189"/>
          <p:cNvGrpSpPr/>
          <p:nvPr/>
        </p:nvGrpSpPr>
        <p:grpSpPr>
          <a:xfrm rot="0">
            <a:off x="12328569" y="5485428"/>
            <a:ext cx="2497912" cy="2230946"/>
            <a:chOff x="0" y="0"/>
            <a:chExt cx="3330550" cy="2974594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3330575" cy="2974594"/>
            </a:xfrm>
            <a:custGeom>
              <a:avLst/>
              <a:gdLst/>
              <a:ahLst/>
              <a:cxnLst/>
              <a:rect r="r" b="b" t="t" l="l"/>
              <a:pathLst>
                <a:path h="2974594" w="3330575">
                  <a:moveTo>
                    <a:pt x="0" y="0"/>
                  </a:moveTo>
                  <a:lnTo>
                    <a:pt x="3330575" y="0"/>
                  </a:lnTo>
                  <a:lnTo>
                    <a:pt x="3330575" y="2974594"/>
                  </a:lnTo>
                  <a:lnTo>
                    <a:pt x="0" y="2974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6"/>
              <a:stretch>
                <a:fillRect l="-49" t="0" r="-48" b="0"/>
              </a:stretch>
            </a:blipFill>
          </p:spPr>
        </p:sp>
      </p:grpSp>
      <p:sp>
        <p:nvSpPr>
          <p:cNvPr name="TextBox 191" id="191"/>
          <p:cNvSpPr txBox="true"/>
          <p:nvPr/>
        </p:nvSpPr>
        <p:spPr>
          <a:xfrm rot="0">
            <a:off x="1695145" y="3285725"/>
            <a:ext cx="1731550" cy="52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1457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ผลตรวจ เมตาบอไลต์จาก NMR</a:t>
            </a:r>
          </a:p>
        </p:txBody>
      </p:sp>
      <p:sp>
        <p:nvSpPr>
          <p:cNvPr name="TextBox 192" id="192"/>
          <p:cNvSpPr txBox="true"/>
          <p:nvPr/>
        </p:nvSpPr>
        <p:spPr>
          <a:xfrm rot="0">
            <a:off x="1037253" y="1730264"/>
            <a:ext cx="1281865" cy="165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9"/>
              </a:lnSpc>
            </a:pPr>
            <a:r>
              <a:rPr lang="en-US" sz="111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1) DATA SOURCES</a:t>
            </a:r>
          </a:p>
        </p:txBody>
      </p:sp>
      <p:sp>
        <p:nvSpPr>
          <p:cNvPr name="TextBox 193" id="193"/>
          <p:cNvSpPr txBox="true"/>
          <p:nvPr/>
        </p:nvSpPr>
        <p:spPr>
          <a:xfrm rot="0">
            <a:off x="3677031" y="1751133"/>
            <a:ext cx="2643102" cy="165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9"/>
              </a:lnSpc>
            </a:pPr>
            <a:r>
              <a:rPr lang="en-US" sz="111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2) DATA INGESTION &amp; PROCESSING</a:t>
            </a:r>
          </a:p>
        </p:txBody>
      </p:sp>
      <p:sp>
        <p:nvSpPr>
          <p:cNvPr name="TextBox 194" id="194"/>
          <p:cNvSpPr txBox="true"/>
          <p:nvPr/>
        </p:nvSpPr>
        <p:spPr>
          <a:xfrm rot="0">
            <a:off x="6530626" y="1730264"/>
            <a:ext cx="5392969" cy="17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9"/>
              </a:lnSpc>
            </a:pPr>
            <a:r>
              <a:rPr lang="en-US" sz="111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3) MULTI-AGENT AI HARNESS (PARALLEL AGENTS)</a:t>
            </a:r>
          </a:p>
        </p:txBody>
      </p:sp>
      <p:sp>
        <p:nvSpPr>
          <p:cNvPr name="TextBox 195" id="195"/>
          <p:cNvSpPr txBox="true"/>
          <p:nvPr/>
        </p:nvSpPr>
        <p:spPr>
          <a:xfrm rot="0">
            <a:off x="12436535" y="1730264"/>
            <a:ext cx="1354436" cy="17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9"/>
              </a:lnSpc>
            </a:pPr>
            <a:r>
              <a:rPr lang="en-US" sz="111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4) RISK ANALYTICS</a:t>
            </a:r>
          </a:p>
        </p:txBody>
      </p:sp>
      <p:sp>
        <p:nvSpPr>
          <p:cNvPr name="TextBox 196" id="196"/>
          <p:cNvSpPr txBox="true"/>
          <p:nvPr/>
        </p:nvSpPr>
        <p:spPr>
          <a:xfrm rot="0">
            <a:off x="15246829" y="1723520"/>
            <a:ext cx="2160194" cy="17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9"/>
              </a:lnSpc>
            </a:pPr>
            <a:r>
              <a:rPr lang="en-US" sz="111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5) RISK OUTPUT APP</a:t>
            </a:r>
          </a:p>
        </p:txBody>
      </p:sp>
      <p:sp>
        <p:nvSpPr>
          <p:cNvPr name="TextBox 197" id="197"/>
          <p:cNvSpPr txBox="true"/>
          <p:nvPr/>
        </p:nvSpPr>
        <p:spPr>
          <a:xfrm rot="0">
            <a:off x="4884782" y="7619219"/>
            <a:ext cx="2813247" cy="39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3"/>
              </a:lnSpc>
            </a:pPr>
            <a:r>
              <a:rPr lang="en-US" sz="126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Cross-Referenced External Data Sources</a:t>
            </a:r>
          </a:p>
        </p:txBody>
      </p:sp>
      <p:sp>
        <p:nvSpPr>
          <p:cNvPr name="TextBox 198" id="198"/>
          <p:cNvSpPr txBox="true"/>
          <p:nvPr/>
        </p:nvSpPr>
        <p:spPr>
          <a:xfrm rot="0">
            <a:off x="3649189" y="2248681"/>
            <a:ext cx="2451621" cy="13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5" b="true">
                <a:solidFill>
                  <a:srgbClr val="9A36B9"/>
                </a:solidFill>
                <a:latin typeface="Arial Bold"/>
                <a:ea typeface="Arial Bold"/>
                <a:cs typeface="Arial Bold"/>
                <a:sym typeface="Arial Bold"/>
              </a:rPr>
              <a:t>Document &amp; Data Connectors</a:t>
            </a:r>
          </a:p>
        </p:txBody>
      </p:sp>
      <p:sp>
        <p:nvSpPr>
          <p:cNvPr name="TextBox 199" id="199"/>
          <p:cNvSpPr txBox="true"/>
          <p:nvPr/>
        </p:nvSpPr>
        <p:spPr>
          <a:xfrm rot="0">
            <a:off x="3759679" y="2746839"/>
            <a:ext cx="522275" cy="166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"/>
              </a:lnSpc>
            </a:pPr>
            <a:r>
              <a:rPr lang="en-US" sz="756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PDF Parser</a:t>
            </a:r>
          </a:p>
        </p:txBody>
      </p:sp>
      <p:sp>
        <p:nvSpPr>
          <p:cNvPr name="TextBox 200" id="200"/>
          <p:cNvSpPr txBox="true"/>
          <p:nvPr/>
        </p:nvSpPr>
        <p:spPr>
          <a:xfrm rot="0">
            <a:off x="4293308" y="2746839"/>
            <a:ext cx="593922" cy="31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"/>
              </a:lnSpc>
            </a:pPr>
            <a:r>
              <a:rPr lang="en-US" sz="756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HL7/FHIR Client</a:t>
            </a:r>
          </a:p>
        </p:txBody>
      </p:sp>
      <p:sp>
        <p:nvSpPr>
          <p:cNvPr name="TextBox 201" id="201"/>
          <p:cNvSpPr txBox="true"/>
          <p:nvPr/>
        </p:nvSpPr>
        <p:spPr>
          <a:xfrm rot="0">
            <a:off x="4862770" y="2746839"/>
            <a:ext cx="593922" cy="31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"/>
              </a:lnSpc>
            </a:pPr>
            <a:r>
              <a:rPr lang="en-US" sz="756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DB Connector</a:t>
            </a:r>
          </a:p>
        </p:txBody>
      </p:sp>
      <p:sp>
        <p:nvSpPr>
          <p:cNvPr name="TextBox 202" id="202"/>
          <p:cNvSpPr txBox="true"/>
          <p:nvPr/>
        </p:nvSpPr>
        <p:spPr>
          <a:xfrm rot="0">
            <a:off x="5432222" y="2746839"/>
            <a:ext cx="593922" cy="31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"/>
              </a:lnSpc>
            </a:pPr>
            <a:r>
              <a:rPr lang="en-US" sz="756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API Connector</a:t>
            </a:r>
          </a:p>
        </p:txBody>
      </p:sp>
      <p:sp>
        <p:nvSpPr>
          <p:cNvPr name="TextBox 203" id="203"/>
          <p:cNvSpPr txBox="true"/>
          <p:nvPr/>
        </p:nvSpPr>
        <p:spPr>
          <a:xfrm rot="0">
            <a:off x="3759679" y="3603327"/>
            <a:ext cx="2407082" cy="13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5" b="true">
                <a:solidFill>
                  <a:srgbClr val="9A36B9"/>
                </a:solidFill>
                <a:latin typeface="Arial Bold"/>
                <a:ea typeface="Arial Bold"/>
                <a:cs typeface="Arial Bold"/>
                <a:sym typeface="Arial Bold"/>
              </a:rPr>
              <a:t>Data Normalization &amp; Mapping</a:t>
            </a:r>
          </a:p>
        </p:txBody>
      </p:sp>
      <p:sp>
        <p:nvSpPr>
          <p:cNvPr name="TextBox 204" id="204"/>
          <p:cNvSpPr txBox="true"/>
          <p:nvPr/>
        </p:nvSpPr>
        <p:spPr>
          <a:xfrm rot="0">
            <a:off x="3759679" y="3690814"/>
            <a:ext cx="2323605" cy="60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3"/>
              </a:lnSpc>
            </a:pPr>
            <a:r>
              <a:rPr lang="en-US" sz="876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Schema Mapping (OMOP / FHIR) • Unit Standardization (UCUM) • Code Mapping (ICD-10, LOINC) • Missing Value Handling</a:t>
            </a:r>
          </a:p>
        </p:txBody>
      </p:sp>
      <p:sp>
        <p:nvSpPr>
          <p:cNvPr name="TextBox 205" id="205"/>
          <p:cNvSpPr txBox="true"/>
          <p:nvPr/>
        </p:nvSpPr>
        <p:spPr>
          <a:xfrm rot="0">
            <a:off x="8338909" y="5033458"/>
            <a:ext cx="1998450" cy="22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8"/>
              </a:lnSpc>
            </a:pPr>
            <a:r>
              <a:rPr lang="en-US" sz="1281" b="true">
                <a:solidFill>
                  <a:srgbClr val="1B8C89"/>
                </a:solidFill>
                <a:latin typeface="Arial Bold"/>
                <a:ea typeface="Arial Bold"/>
                <a:cs typeface="Arial Bold"/>
                <a:sym typeface="Arial Bold"/>
              </a:rPr>
              <a:t>Clinical Reasoning Agent</a:t>
            </a:r>
          </a:p>
        </p:txBody>
      </p:sp>
      <p:sp>
        <p:nvSpPr>
          <p:cNvPr name="TextBox 206" id="206"/>
          <p:cNvSpPr txBox="true"/>
          <p:nvPr/>
        </p:nvSpPr>
        <p:spPr>
          <a:xfrm rot="0">
            <a:off x="8593817" y="5204908"/>
            <a:ext cx="1469879" cy="779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6"/>
              </a:lnSpc>
            </a:pPr>
            <a:r>
              <a:rPr lang="en-US" sz="902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Risk Factor Linking </a:t>
            </a:r>
          </a:p>
          <a:p>
            <a:pPr algn="l">
              <a:lnSpc>
                <a:spcPts val="1506"/>
              </a:lnSpc>
            </a:pPr>
            <a:r>
              <a:rPr lang="en-US" sz="902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Temporal Reasoning </a:t>
            </a:r>
          </a:p>
          <a:p>
            <a:pPr algn="l">
              <a:lnSpc>
                <a:spcPts val="1506"/>
              </a:lnSpc>
            </a:pPr>
            <a:r>
              <a:rPr lang="en-US" sz="902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Comorbidity Check </a:t>
            </a:r>
          </a:p>
          <a:p>
            <a:pPr algn="l">
              <a:lnSpc>
                <a:spcPts val="1506"/>
              </a:lnSpc>
            </a:pPr>
            <a:r>
              <a:rPr lang="en-US" sz="902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Clinical Rules (LLM)</a:t>
            </a:r>
          </a:p>
        </p:txBody>
      </p:sp>
      <p:sp>
        <p:nvSpPr>
          <p:cNvPr name="TextBox 207" id="207"/>
          <p:cNvSpPr txBox="true"/>
          <p:nvPr/>
        </p:nvSpPr>
        <p:spPr>
          <a:xfrm rot="0">
            <a:off x="12025960" y="4551464"/>
            <a:ext cx="233420" cy="28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sz="1752" b="true">
                <a:solidFill>
                  <a:srgbClr val="9A36B9"/>
                </a:solidFill>
                <a:latin typeface="Arial Bold"/>
                <a:ea typeface="Arial Bold"/>
                <a:cs typeface="Arial Bold"/>
                <a:sym typeface="Arial Bold"/>
              </a:rPr>
              <a:t>➜</a:t>
            </a:r>
          </a:p>
        </p:txBody>
      </p:sp>
      <p:sp>
        <p:nvSpPr>
          <p:cNvPr name="TextBox 208" id="208"/>
          <p:cNvSpPr txBox="true"/>
          <p:nvPr/>
        </p:nvSpPr>
        <p:spPr>
          <a:xfrm rot="0">
            <a:off x="12932597" y="2258187"/>
            <a:ext cx="1138942" cy="13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5" b="true">
                <a:solidFill>
                  <a:srgbClr val="D6336C"/>
                </a:solidFill>
                <a:latin typeface="Arial Bold"/>
                <a:ea typeface="Arial Bold"/>
                <a:cs typeface="Arial Bold"/>
                <a:sym typeface="Arial Bold"/>
              </a:rPr>
              <a:t>Risk Aggregator</a:t>
            </a:r>
          </a:p>
        </p:txBody>
      </p:sp>
      <p:sp>
        <p:nvSpPr>
          <p:cNvPr name="TextBox 209" id="209"/>
          <p:cNvSpPr txBox="true"/>
          <p:nvPr/>
        </p:nvSpPr>
        <p:spPr>
          <a:xfrm rot="0">
            <a:off x="12932597" y="2371639"/>
            <a:ext cx="1138942" cy="166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"/>
              </a:lnSpc>
            </a:pPr>
            <a:r>
              <a:rPr lang="en-US" sz="756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(Ensemble &amp; Calibration)</a:t>
            </a:r>
          </a:p>
        </p:txBody>
      </p:sp>
      <p:sp>
        <p:nvSpPr>
          <p:cNvPr name="TextBox 210" id="210"/>
          <p:cNvSpPr txBox="true"/>
          <p:nvPr/>
        </p:nvSpPr>
        <p:spPr>
          <a:xfrm rot="0">
            <a:off x="12547892" y="2517562"/>
            <a:ext cx="2254215" cy="77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0"/>
              </a:lnSpc>
            </a:pPr>
            <a:r>
              <a:rPr lang="en-US" sz="837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Model Ensemble (XGBoost, Logistic, Deep Model) • Calibration (Platt / Isotonic) • Uncertainty Quantification • SHAP / Explainability</a:t>
            </a:r>
          </a:p>
        </p:txBody>
      </p:sp>
      <p:sp>
        <p:nvSpPr>
          <p:cNvPr name="TextBox 211" id="211"/>
          <p:cNvSpPr txBox="true"/>
          <p:nvPr/>
        </p:nvSpPr>
        <p:spPr>
          <a:xfrm rot="0">
            <a:off x="14826482" y="4577143"/>
            <a:ext cx="233420" cy="28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sz="1752" b="true">
                <a:solidFill>
                  <a:srgbClr val="192F8B"/>
                </a:solidFill>
                <a:latin typeface="Arial Bold"/>
                <a:ea typeface="Arial Bold"/>
                <a:cs typeface="Arial Bold"/>
                <a:sym typeface="Arial Bold"/>
              </a:rPr>
              <a:t>➜</a:t>
            </a:r>
          </a:p>
        </p:txBody>
      </p:sp>
      <p:sp>
        <p:nvSpPr>
          <p:cNvPr name="Freeform 212" id="212"/>
          <p:cNvSpPr/>
          <p:nvPr/>
        </p:nvSpPr>
        <p:spPr>
          <a:xfrm flipH="false" flipV="false" rot="0">
            <a:off x="12385196" y="8510654"/>
            <a:ext cx="344205" cy="101241"/>
          </a:xfrm>
          <a:custGeom>
            <a:avLst/>
            <a:gdLst/>
            <a:ahLst/>
            <a:cxnLst/>
            <a:rect r="r" b="b" t="t" l="l"/>
            <a:pathLst>
              <a:path h="101241" w="344205">
                <a:moveTo>
                  <a:pt x="0" y="0"/>
                </a:moveTo>
                <a:lnTo>
                  <a:pt x="344204" y="0"/>
                </a:lnTo>
                <a:lnTo>
                  <a:pt x="344204" y="101241"/>
                </a:lnTo>
                <a:lnTo>
                  <a:pt x="0" y="101241"/>
                </a:lnTo>
                <a:lnTo>
                  <a:pt x="0" y="0"/>
                </a:lnTo>
                <a:close/>
              </a:path>
            </a:pathLst>
          </a:custGeom>
          <a:blipFill>
            <a:blip r:embed="rId107">
              <a:extLst>
                <a:ext uri="{96DAC541-7B7A-43D3-8B79-37D633B846F1}">
                  <asvg:svgBlip xmlns:asvg="http://schemas.microsoft.com/office/drawing/2016/SVG/main" r:embed="rId108"/>
                </a:ext>
              </a:extLst>
            </a:blip>
            <a:stretch>
              <a:fillRect l="0" t="-536" r="0" b="-536"/>
            </a:stretch>
          </a:blipFill>
        </p:spPr>
      </p:sp>
      <p:sp>
        <p:nvSpPr>
          <p:cNvPr name="Freeform 213" id="213"/>
          <p:cNvSpPr/>
          <p:nvPr/>
        </p:nvSpPr>
        <p:spPr>
          <a:xfrm flipH="false" flipV="false" rot="0">
            <a:off x="15513044" y="8586168"/>
            <a:ext cx="344205" cy="101241"/>
          </a:xfrm>
          <a:custGeom>
            <a:avLst/>
            <a:gdLst/>
            <a:ahLst/>
            <a:cxnLst/>
            <a:rect r="r" b="b" t="t" l="l"/>
            <a:pathLst>
              <a:path h="101241" w="344205">
                <a:moveTo>
                  <a:pt x="0" y="0"/>
                </a:moveTo>
                <a:lnTo>
                  <a:pt x="344205" y="0"/>
                </a:lnTo>
                <a:lnTo>
                  <a:pt x="344205" y="101242"/>
                </a:lnTo>
                <a:lnTo>
                  <a:pt x="0" y="101242"/>
                </a:lnTo>
                <a:lnTo>
                  <a:pt x="0" y="0"/>
                </a:lnTo>
                <a:close/>
              </a:path>
            </a:pathLst>
          </a:custGeom>
          <a:blipFill>
            <a:blip r:embed="rId109">
              <a:extLst>
                <a:ext uri="{96DAC541-7B7A-43D3-8B79-37D633B846F1}">
                  <asvg:svgBlip xmlns:asvg="http://schemas.microsoft.com/office/drawing/2016/SVG/main" r:embed="rId110"/>
                </a:ext>
              </a:extLst>
            </a:blip>
            <a:stretch>
              <a:fillRect l="0" t="-536" r="0" b="-536"/>
            </a:stretch>
          </a:blipFill>
        </p:spPr>
      </p:sp>
      <p:sp>
        <p:nvSpPr>
          <p:cNvPr name="Freeform 214" id="214"/>
          <p:cNvSpPr/>
          <p:nvPr/>
        </p:nvSpPr>
        <p:spPr>
          <a:xfrm flipH="false" flipV="false" rot="0">
            <a:off x="12385196" y="8848963"/>
            <a:ext cx="344205" cy="101241"/>
          </a:xfrm>
          <a:custGeom>
            <a:avLst/>
            <a:gdLst/>
            <a:ahLst/>
            <a:cxnLst/>
            <a:rect r="r" b="b" t="t" l="l"/>
            <a:pathLst>
              <a:path h="101241" w="344205">
                <a:moveTo>
                  <a:pt x="0" y="0"/>
                </a:moveTo>
                <a:lnTo>
                  <a:pt x="344204" y="0"/>
                </a:lnTo>
                <a:lnTo>
                  <a:pt x="344204" y="101241"/>
                </a:lnTo>
                <a:lnTo>
                  <a:pt x="0" y="101241"/>
                </a:lnTo>
                <a:lnTo>
                  <a:pt x="0" y="0"/>
                </a:lnTo>
                <a:close/>
              </a:path>
            </a:pathLst>
          </a:custGeom>
          <a:blipFill>
            <a:blip r:embed="rId111">
              <a:extLst>
                <a:ext uri="{96DAC541-7B7A-43D3-8B79-37D633B846F1}">
                  <asvg:svgBlip xmlns:asvg="http://schemas.microsoft.com/office/drawing/2016/SVG/main" r:embed="rId112"/>
                </a:ext>
              </a:extLst>
            </a:blip>
            <a:stretch>
              <a:fillRect l="0" t="-536" r="0" b="-536"/>
            </a:stretch>
          </a:blipFill>
        </p:spPr>
      </p:sp>
      <p:sp>
        <p:nvSpPr>
          <p:cNvPr name="TextBox 215" id="215"/>
          <p:cNvSpPr txBox="true"/>
          <p:nvPr/>
        </p:nvSpPr>
        <p:spPr>
          <a:xfrm rot="0">
            <a:off x="12837395" y="8796861"/>
            <a:ext cx="2129342" cy="188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154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การเรียกใช้เครื่องมือ (Tool Call)</a:t>
            </a:r>
          </a:p>
        </p:txBody>
      </p:sp>
      <p:sp>
        <p:nvSpPr>
          <p:cNvPr name="Freeform 216" id="216"/>
          <p:cNvSpPr/>
          <p:nvPr/>
        </p:nvSpPr>
        <p:spPr>
          <a:xfrm flipH="false" flipV="false" rot="0">
            <a:off x="15530932" y="8969607"/>
            <a:ext cx="344205" cy="101241"/>
          </a:xfrm>
          <a:custGeom>
            <a:avLst/>
            <a:gdLst/>
            <a:ahLst/>
            <a:cxnLst/>
            <a:rect r="r" b="b" t="t" l="l"/>
            <a:pathLst>
              <a:path h="101241" w="344205">
                <a:moveTo>
                  <a:pt x="0" y="0"/>
                </a:moveTo>
                <a:lnTo>
                  <a:pt x="344205" y="0"/>
                </a:lnTo>
                <a:lnTo>
                  <a:pt x="344205" y="101241"/>
                </a:lnTo>
                <a:lnTo>
                  <a:pt x="0" y="101241"/>
                </a:lnTo>
                <a:lnTo>
                  <a:pt x="0" y="0"/>
                </a:lnTo>
                <a:close/>
              </a:path>
            </a:pathLst>
          </a:custGeom>
          <a:blipFill>
            <a:blip r:embed="rId113">
              <a:extLst>
                <a:ext uri="{96DAC541-7B7A-43D3-8B79-37D633B846F1}">
                  <asvg:svgBlip xmlns:asvg="http://schemas.microsoft.com/office/drawing/2016/SVG/main" r:embed="rId114"/>
                </a:ext>
              </a:extLst>
            </a:blip>
            <a:stretch>
              <a:fillRect l="0" t="-536" r="0" b="-536"/>
            </a:stretch>
          </a:blipFill>
        </p:spPr>
      </p:sp>
      <p:sp>
        <p:nvSpPr>
          <p:cNvPr name="Freeform 217" id="217"/>
          <p:cNvSpPr/>
          <p:nvPr/>
        </p:nvSpPr>
        <p:spPr>
          <a:xfrm flipH="false" flipV="false" rot="0">
            <a:off x="12385196" y="9152668"/>
            <a:ext cx="344205" cy="101241"/>
          </a:xfrm>
          <a:custGeom>
            <a:avLst/>
            <a:gdLst/>
            <a:ahLst/>
            <a:cxnLst/>
            <a:rect r="r" b="b" t="t" l="l"/>
            <a:pathLst>
              <a:path h="101241" w="344205">
                <a:moveTo>
                  <a:pt x="0" y="0"/>
                </a:moveTo>
                <a:lnTo>
                  <a:pt x="344204" y="0"/>
                </a:lnTo>
                <a:lnTo>
                  <a:pt x="344204" y="101241"/>
                </a:lnTo>
                <a:lnTo>
                  <a:pt x="0" y="101241"/>
                </a:lnTo>
                <a:lnTo>
                  <a:pt x="0" y="0"/>
                </a:lnTo>
                <a:close/>
              </a:path>
            </a:pathLst>
          </a:custGeom>
          <a:blipFill>
            <a:blip r:embed="rId115">
              <a:extLst>
                <a:ext uri="{96DAC541-7B7A-43D3-8B79-37D633B846F1}">
                  <asvg:svgBlip xmlns:asvg="http://schemas.microsoft.com/office/drawing/2016/SVG/main" r:embed="rId116"/>
                </a:ext>
              </a:extLst>
            </a:blip>
            <a:stretch>
              <a:fillRect l="0" t="-536" r="0" b="-536"/>
            </a:stretch>
          </a:blipFill>
        </p:spPr>
      </p:sp>
      <p:sp>
        <p:nvSpPr>
          <p:cNvPr name="TextBox 218" id="218"/>
          <p:cNvSpPr txBox="true"/>
          <p:nvPr/>
        </p:nvSpPr>
        <p:spPr>
          <a:xfrm rot="0">
            <a:off x="12359249" y="8061998"/>
            <a:ext cx="2180939" cy="256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18"/>
              </a:lnSpc>
            </a:pPr>
            <a:r>
              <a:rPr lang="en-US" sz="1515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การไหลของข้อมูล</a:t>
            </a:r>
          </a:p>
        </p:txBody>
      </p:sp>
      <p:sp>
        <p:nvSpPr>
          <p:cNvPr name="TextBox 219" id="219"/>
          <p:cNvSpPr txBox="true"/>
          <p:nvPr/>
        </p:nvSpPr>
        <p:spPr>
          <a:xfrm rot="0">
            <a:off x="12837395" y="8446741"/>
            <a:ext cx="2409434" cy="188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154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การไหลของข้อมูลหลัก (Data Flow)</a:t>
            </a:r>
          </a:p>
        </p:txBody>
      </p:sp>
      <p:sp>
        <p:nvSpPr>
          <p:cNvPr name="TextBox 220" id="220"/>
          <p:cNvSpPr txBox="true"/>
          <p:nvPr/>
        </p:nvSpPr>
        <p:spPr>
          <a:xfrm rot="0">
            <a:off x="15965234" y="8467420"/>
            <a:ext cx="1477823" cy="36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154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ผลลัพธ์/หลักฐาน (Evidence Flow)</a:t>
            </a:r>
          </a:p>
        </p:txBody>
      </p:sp>
      <p:sp>
        <p:nvSpPr>
          <p:cNvPr name="TextBox 221" id="221"/>
          <p:cNvSpPr txBox="true"/>
          <p:nvPr/>
        </p:nvSpPr>
        <p:spPr>
          <a:xfrm rot="0">
            <a:off x="15965234" y="8882910"/>
            <a:ext cx="1477823" cy="36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154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การควบคุม/งาน (Control Flow)</a:t>
            </a:r>
          </a:p>
        </p:txBody>
      </p:sp>
      <p:sp>
        <p:nvSpPr>
          <p:cNvPr name="TextBox 222" id="222"/>
          <p:cNvSpPr txBox="true"/>
          <p:nvPr/>
        </p:nvSpPr>
        <p:spPr>
          <a:xfrm rot="0">
            <a:off x="12837395" y="9100566"/>
            <a:ext cx="2409434" cy="188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154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การไหลของความรู้ (Knowledge Flow)</a:t>
            </a:r>
          </a:p>
        </p:txBody>
      </p:sp>
      <p:sp>
        <p:nvSpPr>
          <p:cNvPr name="TextBox 223" id="223"/>
          <p:cNvSpPr txBox="true"/>
          <p:nvPr/>
        </p:nvSpPr>
        <p:spPr>
          <a:xfrm rot="-5400000">
            <a:off x="3123333" y="2617937"/>
            <a:ext cx="588616" cy="22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9A36B9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</a:p>
        </p:txBody>
      </p:sp>
      <p:sp>
        <p:nvSpPr>
          <p:cNvPr name="TextBox 224" id="224"/>
          <p:cNvSpPr txBox="true"/>
          <p:nvPr/>
        </p:nvSpPr>
        <p:spPr>
          <a:xfrm rot="-5400000">
            <a:off x="3140907" y="3546500"/>
            <a:ext cx="588616" cy="22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9A36B9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</a:p>
        </p:txBody>
      </p:sp>
      <p:sp>
        <p:nvSpPr>
          <p:cNvPr name="TextBox 225" id="225"/>
          <p:cNvSpPr txBox="true"/>
          <p:nvPr/>
        </p:nvSpPr>
        <p:spPr>
          <a:xfrm rot="-5400000">
            <a:off x="3140907" y="4371051"/>
            <a:ext cx="588616" cy="22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9A36B9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</a:p>
        </p:txBody>
      </p:sp>
      <p:sp>
        <p:nvSpPr>
          <p:cNvPr name="TextBox 226" id="226"/>
          <p:cNvSpPr txBox="true"/>
          <p:nvPr/>
        </p:nvSpPr>
        <p:spPr>
          <a:xfrm rot="-5400000">
            <a:off x="3140907" y="5192078"/>
            <a:ext cx="588616" cy="22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9A36B9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</a:p>
        </p:txBody>
      </p:sp>
      <p:sp>
        <p:nvSpPr>
          <p:cNvPr name="TextBox 227" id="227"/>
          <p:cNvSpPr txBox="true"/>
          <p:nvPr/>
        </p:nvSpPr>
        <p:spPr>
          <a:xfrm rot="-5400000">
            <a:off x="3154404" y="6205604"/>
            <a:ext cx="588616" cy="22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9A36B9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</a:p>
        </p:txBody>
      </p:sp>
      <p:sp>
        <p:nvSpPr>
          <p:cNvPr name="TextBox 228" id="228"/>
          <p:cNvSpPr txBox="true"/>
          <p:nvPr/>
        </p:nvSpPr>
        <p:spPr>
          <a:xfrm rot="-5400000">
            <a:off x="3136573" y="7315705"/>
            <a:ext cx="588616" cy="22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9A36B9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</a:p>
        </p:txBody>
      </p:sp>
      <p:grpSp>
        <p:nvGrpSpPr>
          <p:cNvPr name="Group 229" id="229"/>
          <p:cNvGrpSpPr/>
          <p:nvPr/>
        </p:nvGrpSpPr>
        <p:grpSpPr>
          <a:xfrm rot="0">
            <a:off x="10834087" y="5529101"/>
            <a:ext cx="1232116" cy="1290809"/>
            <a:chOff x="0" y="0"/>
            <a:chExt cx="1642821" cy="1721079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1642872" cy="1721104"/>
            </a:xfrm>
            <a:custGeom>
              <a:avLst/>
              <a:gdLst/>
              <a:ahLst/>
              <a:cxnLst/>
              <a:rect r="r" b="b" t="t" l="l"/>
              <a:pathLst>
                <a:path h="1721104" w="1642872">
                  <a:moveTo>
                    <a:pt x="0" y="0"/>
                  </a:moveTo>
                  <a:lnTo>
                    <a:pt x="1642872" y="0"/>
                  </a:lnTo>
                  <a:lnTo>
                    <a:pt x="1642872" y="1721104"/>
                  </a:lnTo>
                  <a:lnTo>
                    <a:pt x="0" y="1721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7"/>
              <a:stretch>
                <a:fillRect l="0" t="-50419" r="3" b="-50417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DAHR0PvCdyU</dc:identifier>
  <dcterms:modified xsi:type="dcterms:W3CDTF">2011-08-01T06:04:30Z</dcterms:modified>
  <cp:revision>1</cp:revision>
  <dc:title>Data_and_Results_PhenoInsure_Monotonic_PR_AUC_ComparisonNEW.pptx</dc:title>
</cp:coreProperties>
</file>